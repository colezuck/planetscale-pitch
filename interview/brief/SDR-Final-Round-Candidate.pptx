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goal here isn't to see if you memorized Metal. It's to see if you can take something technical, understand it well enough to explain it in your own words, and hold up when an engineer pushes back. That's most of the job.</a:t>
            </a:r>
            <a:endParaRPr/>
          </a:p>
          <a:p>
            <a:pPr indent="0" lvl="0" marL="0" rtl="0" algn="l">
              <a:lnSpc>
                <a:spcPct val="115000"/>
              </a:lnSpc>
              <a:spcBef>
                <a:spcPts val="1200"/>
              </a:spcBef>
              <a:spcAft>
                <a:spcPts val="0"/>
              </a:spcAft>
              <a:buClr>
                <a:schemeClr val="dk1"/>
              </a:buClr>
              <a:buSzPts val="1100"/>
              <a:buFont typeface="Arial"/>
              <a:buNone/>
            </a:pPr>
            <a:r>
              <a:rPr lang="en-US"/>
              <a:t>A good five minutes sounds like a conversation, not a pitch. You tell the engineer what Metal is in a sentence he'd repeat to a coworker. You pick one problem he probably has — slow queries under load, a surprise storage or IOPS bill, a database that gets unpredictable when traffic spikes — and connect Metal to that problem. You say what it's not for before he asks. And when he asks something you don't know, you say so and move on. One clean "I don't know" beats a confident wrong answer every time.</a:t>
            </a:r>
            <a:endParaRPr/>
          </a:p>
          <a:p>
            <a:pPr indent="0" lvl="0" marL="0" rtl="0" algn="l">
              <a:lnSpc>
                <a:spcPct val="115000"/>
              </a:lnSpc>
              <a:spcBef>
                <a:spcPts val="1200"/>
              </a:spcBef>
              <a:spcAft>
                <a:spcPts val="0"/>
              </a:spcAft>
              <a:buClr>
                <a:schemeClr val="dk1"/>
              </a:buClr>
              <a:buSzPts val="1100"/>
              <a:buFont typeface="Arial"/>
              <a:buNone/>
            </a:pPr>
            <a:r>
              <a:rPr lang="en-US"/>
              <a:t>What we don't want: reading the website back to us, listing features, or talking for five minutes without checking whether any of it landed.</a:t>
            </a:r>
            <a:endParaRPr/>
          </a:p>
          <a:p>
            <a:pPr indent="0" lvl="0" marL="0" rtl="0" algn="l">
              <a:spcBef>
                <a:spcPts val="1200"/>
              </a:spcBef>
              <a:spcAft>
                <a:spcPts val="0"/>
              </a:spcAft>
              <a:buNone/>
            </a:pPr>
            <a:r>
              <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Earn a 20-minute conversation with a specific reason attached.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Or a referral to the right person, with permission to use his name.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 won't say yes just to get off the phone.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Footer: Kevan plays Fred. We're watching what changes between the first call and the second.</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is a 25-minute discovery call with Steph Hippo, Platform Engineering Director at Honeycomb. The premise is that Fred referred you after the cold call. You need to leave with 3 whys. Why anything, Why now, Why PlanetScale. </a:t>
            </a:r>
            <a:endParaRPr/>
          </a:p>
          <a:p>
            <a:pPr indent="0" lvl="0" marL="0" rtl="0" algn="l">
              <a:spcBef>
                <a:spcPts val="1200"/>
              </a:spcBef>
              <a:spcAft>
                <a:spcPts val="0"/>
              </a:spcAft>
              <a:buNone/>
            </a:pPr>
            <a:r>
              <a:t/>
            </a:r>
            <a:endParaRPr/>
          </a:p>
        </p:txBody>
      </p:sp>
      <p:sp>
        <p:nvSpPr>
          <p:cNvPr id="79" name="Google Shape;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5" name="Shape 15"/>
        <p:cNvGrpSpPr/>
        <p:nvPr/>
      </p:nvGrpSpPr>
      <p:grpSpPr>
        <a:xfrm>
          <a:off x="0" y="0"/>
          <a:ext cx="0" cy="0"/>
          <a:chOff x="0" y="0"/>
          <a:chExt cx="0" cy="0"/>
        </a:xfrm>
      </p:grpSpPr>
      <p:sp>
        <p:nvSpPr>
          <p:cNvPr id="16" name="Google Shape;16;p3"/>
          <p:cNvSpPr txBox="1"/>
          <p:nvPr/>
        </p:nvSpPr>
        <p:spPr>
          <a:xfrm>
            <a:off x="457200" y="1417320"/>
            <a:ext cx="8229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b="1" lang="en-US" sz="5200">
                <a:solidFill>
                  <a:srgbClr val="FFFFFF"/>
                </a:solidFill>
                <a:latin typeface="Calibri"/>
                <a:ea typeface="Calibri"/>
                <a:cs typeface="Calibri"/>
                <a:sym typeface="Calibri"/>
              </a:rPr>
              <a:t>Cole Zuckowski - Challenge</a:t>
            </a:r>
            <a:endParaRPr b="0" i="0" sz="5200" u="none" cap="none" strike="noStrike">
              <a:solidFill>
                <a:schemeClr val="dk1"/>
              </a:solidFill>
              <a:latin typeface="Calibri"/>
              <a:ea typeface="Calibri"/>
              <a:cs typeface="Calibri"/>
              <a:sym typeface="Calibri"/>
            </a:endParaRPr>
          </a:p>
        </p:txBody>
      </p:sp>
      <p:sp>
        <p:nvSpPr>
          <p:cNvPr id="17" name="Google Shape;17;p3"/>
          <p:cNvSpPr txBox="1"/>
          <p:nvPr/>
        </p:nvSpPr>
        <p:spPr>
          <a:xfrm>
            <a:off x="457200" y="251460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CFCF"/>
              </a:buClr>
              <a:buSzPts val="1600"/>
              <a:buFont typeface="Calibri"/>
              <a:buNone/>
            </a:pPr>
            <a:r>
              <a:rPr b="0" i="0" lang="en-US" sz="1600" u="none" cap="none" strike="noStrike">
                <a:solidFill>
                  <a:srgbClr val="CFCFCF"/>
                </a:solidFill>
                <a:latin typeface="Calibri"/>
                <a:ea typeface="Calibri"/>
                <a:cs typeface="Calibri"/>
                <a:sym typeface="Calibri"/>
              </a:rPr>
              <a:t>SDR  ·  </a:t>
            </a:r>
            <a:r>
              <a:rPr lang="en-US" sz="1600">
                <a:solidFill>
                  <a:srgbClr val="CFCFCF"/>
                </a:solidFill>
                <a:latin typeface="Calibri"/>
                <a:ea typeface="Calibri"/>
                <a:cs typeface="Calibri"/>
                <a:sym typeface="Calibri"/>
              </a:rPr>
              <a:t>6</a:t>
            </a:r>
            <a:r>
              <a:rPr b="0" i="0" lang="en-US" sz="1600" u="none" cap="none" strike="noStrike">
                <a:solidFill>
                  <a:srgbClr val="CFCFCF"/>
                </a:solidFill>
                <a:latin typeface="Calibri"/>
                <a:ea typeface="Calibri"/>
                <a:cs typeface="Calibri"/>
                <a:sym typeface="Calibri"/>
              </a:rPr>
              <a:t>0 minutes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 name="Shape 22"/>
        <p:cNvGrpSpPr/>
        <p:nvPr/>
      </p:nvGrpSpPr>
      <p:grpSpPr>
        <a:xfrm>
          <a:off x="0" y="0"/>
          <a:ext cx="0" cy="0"/>
          <a:chOff x="0" y="0"/>
          <a:chExt cx="0" cy="0"/>
        </a:xfrm>
      </p:grpSpPr>
      <p:sp>
        <p:nvSpPr>
          <p:cNvPr id="23" name="Google Shape;23;p4"/>
          <p:cNvSpPr txBox="1"/>
          <p:nvPr/>
        </p:nvSpPr>
        <p:spPr>
          <a:xfrm>
            <a:off x="457200" y="34747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3000"/>
              <a:buFont typeface="Calibri"/>
              <a:buNone/>
            </a:pPr>
            <a:r>
              <a:rPr b="1" lang="en-US" sz="3000">
                <a:solidFill>
                  <a:srgbClr val="121212"/>
                </a:solidFill>
                <a:latin typeface="Calibri"/>
                <a:ea typeface="Calibri"/>
                <a:cs typeface="Calibri"/>
                <a:sym typeface="Calibri"/>
              </a:rPr>
              <a:t>Agenda</a:t>
            </a:r>
            <a:endParaRPr b="0" i="0" sz="3000" u="none" cap="none" strike="noStrike">
              <a:solidFill>
                <a:schemeClr val="dk1"/>
              </a:solidFill>
              <a:latin typeface="Calibri"/>
              <a:ea typeface="Calibri"/>
              <a:cs typeface="Calibri"/>
              <a:sym typeface="Calibri"/>
            </a:endParaRPr>
          </a:p>
        </p:txBody>
      </p:sp>
      <p:sp>
        <p:nvSpPr>
          <p:cNvPr id="24" name="Google Shape;24;p4"/>
          <p:cNvSpPr/>
          <p:nvPr/>
        </p:nvSpPr>
        <p:spPr>
          <a:xfrm>
            <a:off x="457200" y="1161288"/>
            <a:ext cx="365760" cy="365760"/>
          </a:xfrm>
          <a:prstGeom prst="ellipse">
            <a:avLst/>
          </a:prstGeom>
          <a:solidFill>
            <a:srgbClr val="E8631A"/>
          </a:solidFill>
          <a:ln cap="flat" cmpd="sng" w="12700">
            <a:solidFill>
              <a:srgbClr val="E86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txBox="1"/>
          <p:nvPr/>
        </p:nvSpPr>
        <p:spPr>
          <a:xfrm>
            <a:off x="457200" y="116128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6" name="Google Shape;26;p4"/>
          <p:cNvSpPr txBox="1"/>
          <p:nvPr/>
        </p:nvSpPr>
        <p:spPr>
          <a:xfrm>
            <a:off x="987552" y="1143000"/>
            <a:ext cx="4572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500"/>
              <a:buFont typeface="Calibri"/>
              <a:buNone/>
            </a:pPr>
            <a:r>
              <a:rPr b="1" i="0" lang="en-US" sz="1500" u="none" cap="none" strike="noStrike">
                <a:solidFill>
                  <a:srgbClr val="121212"/>
                </a:solidFill>
                <a:latin typeface="Calibri"/>
                <a:ea typeface="Calibri"/>
                <a:cs typeface="Calibri"/>
                <a:sym typeface="Calibri"/>
              </a:rPr>
              <a:t>Metal teach-back</a:t>
            </a:r>
            <a:r>
              <a:rPr b="0" i="0" lang="en-US" sz="1150" u="none" cap="none" strike="noStrike">
                <a:solidFill>
                  <a:srgbClr val="6B6B6B"/>
                </a:solidFill>
                <a:latin typeface="Calibri"/>
                <a:ea typeface="Calibri"/>
                <a:cs typeface="Calibri"/>
                <a:sym typeface="Calibri"/>
              </a:rPr>
              <a:t>   15 min</a:t>
            </a:r>
            <a:endParaRPr b="0" i="0" sz="1500" u="none" cap="none" strike="noStrike">
              <a:solidFill>
                <a:schemeClr val="dk1"/>
              </a:solidFill>
              <a:latin typeface="Calibri"/>
              <a:ea typeface="Calibri"/>
              <a:cs typeface="Calibri"/>
              <a:sym typeface="Calibri"/>
            </a:endParaRPr>
          </a:p>
        </p:txBody>
      </p:sp>
      <p:sp>
        <p:nvSpPr>
          <p:cNvPr id="27" name="Google Shape;27;p4"/>
          <p:cNvSpPr txBox="1"/>
          <p:nvPr/>
        </p:nvSpPr>
        <p:spPr>
          <a:xfrm>
            <a:off x="987552" y="1453896"/>
            <a:ext cx="4572000"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A3A3A"/>
              </a:buClr>
              <a:buSzPts val="1250"/>
              <a:buFont typeface="Calibri"/>
              <a:buNone/>
            </a:pPr>
            <a:r>
              <a:rPr lang="en-US" sz="1250">
                <a:solidFill>
                  <a:srgbClr val="3A3A3A"/>
                </a:solidFill>
                <a:latin typeface="Calibri"/>
                <a:ea typeface="Calibri"/>
                <a:cs typeface="Calibri"/>
                <a:sym typeface="Calibri"/>
              </a:rPr>
              <a:t>E</a:t>
            </a:r>
            <a:r>
              <a:rPr b="0" i="0" lang="en-US" sz="1250" u="none" cap="none" strike="noStrike">
                <a:solidFill>
                  <a:srgbClr val="3A3A3A"/>
                </a:solidFill>
                <a:latin typeface="Calibri"/>
                <a:ea typeface="Calibri"/>
                <a:cs typeface="Calibri"/>
                <a:sym typeface="Calibri"/>
              </a:rPr>
              <a:t>xplain PlanetScale Metal to an engineer</a:t>
            </a:r>
            <a:r>
              <a:rPr lang="en-US" sz="1250">
                <a:solidFill>
                  <a:srgbClr val="3A3A3A"/>
                </a:solidFill>
                <a:latin typeface="Calibri"/>
                <a:ea typeface="Calibri"/>
                <a:cs typeface="Calibri"/>
                <a:sym typeface="Calibri"/>
              </a:rPr>
              <a:t> and be ready to field a couple questions.</a:t>
            </a:r>
            <a:endParaRPr b="0" i="0" sz="1250" u="none" cap="none" strike="noStrike">
              <a:solidFill>
                <a:schemeClr val="dk1"/>
              </a:solidFill>
              <a:latin typeface="Calibri"/>
              <a:ea typeface="Calibri"/>
              <a:cs typeface="Calibri"/>
              <a:sym typeface="Calibri"/>
            </a:endParaRPr>
          </a:p>
        </p:txBody>
      </p:sp>
      <p:sp>
        <p:nvSpPr>
          <p:cNvPr id="28" name="Google Shape;28;p4"/>
          <p:cNvSpPr/>
          <p:nvPr/>
        </p:nvSpPr>
        <p:spPr>
          <a:xfrm>
            <a:off x="457200" y="2093976"/>
            <a:ext cx="365760" cy="365760"/>
          </a:xfrm>
          <a:prstGeom prst="ellipse">
            <a:avLst/>
          </a:prstGeom>
          <a:solidFill>
            <a:srgbClr val="E8631A"/>
          </a:solidFill>
          <a:ln cap="flat" cmpd="sng" w="12700">
            <a:solidFill>
              <a:srgbClr val="E86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txBox="1"/>
          <p:nvPr/>
        </p:nvSpPr>
        <p:spPr>
          <a:xfrm>
            <a:off x="457200" y="209397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30" name="Google Shape;30;p4"/>
          <p:cNvSpPr txBox="1"/>
          <p:nvPr/>
        </p:nvSpPr>
        <p:spPr>
          <a:xfrm>
            <a:off x="987552" y="2075688"/>
            <a:ext cx="4572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500"/>
              <a:buFont typeface="Calibri"/>
              <a:buNone/>
            </a:pPr>
            <a:r>
              <a:rPr b="1" i="0" lang="en-US" sz="1500" u="none" cap="none" strike="noStrike">
                <a:solidFill>
                  <a:srgbClr val="121212"/>
                </a:solidFill>
                <a:latin typeface="Calibri"/>
                <a:ea typeface="Calibri"/>
                <a:cs typeface="Calibri"/>
                <a:sym typeface="Calibri"/>
              </a:rPr>
              <a:t>Cold call</a:t>
            </a:r>
            <a:r>
              <a:rPr b="0" i="0" lang="en-US" sz="1150" u="none" cap="none" strike="noStrike">
                <a:solidFill>
                  <a:srgbClr val="6B6B6B"/>
                </a:solidFill>
                <a:latin typeface="Calibri"/>
                <a:ea typeface="Calibri"/>
                <a:cs typeface="Calibri"/>
                <a:sym typeface="Calibri"/>
              </a:rPr>
              <a:t>   10 min</a:t>
            </a:r>
            <a:endParaRPr b="0" i="0" sz="1500" u="none" cap="none" strike="noStrike">
              <a:solidFill>
                <a:schemeClr val="dk1"/>
              </a:solidFill>
              <a:latin typeface="Calibri"/>
              <a:ea typeface="Calibri"/>
              <a:cs typeface="Calibri"/>
              <a:sym typeface="Calibri"/>
            </a:endParaRPr>
          </a:p>
        </p:txBody>
      </p:sp>
      <p:sp>
        <p:nvSpPr>
          <p:cNvPr id="31" name="Google Shape;31;p4"/>
          <p:cNvSpPr txBox="1"/>
          <p:nvPr/>
        </p:nvSpPr>
        <p:spPr>
          <a:xfrm>
            <a:off x="987552" y="2386584"/>
            <a:ext cx="4572000"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A3A3A"/>
              </a:buClr>
              <a:buSzPts val="1250"/>
              <a:buFont typeface="Calibri"/>
              <a:buNone/>
            </a:pPr>
            <a:r>
              <a:rPr b="0" i="0" lang="en-US" sz="1250" u="none" cap="none" strike="noStrike">
                <a:solidFill>
                  <a:srgbClr val="3A3A3A"/>
                </a:solidFill>
                <a:latin typeface="Calibri"/>
                <a:ea typeface="Calibri"/>
                <a:cs typeface="Calibri"/>
                <a:sym typeface="Calibri"/>
              </a:rPr>
              <a:t>Two attempts at the same call, with one piece of feedback in between.</a:t>
            </a:r>
            <a:endParaRPr b="0" i="0" sz="1250" u="none" cap="none" strike="noStrike">
              <a:solidFill>
                <a:schemeClr val="dk1"/>
              </a:solidFill>
              <a:latin typeface="Calibri"/>
              <a:ea typeface="Calibri"/>
              <a:cs typeface="Calibri"/>
              <a:sym typeface="Calibri"/>
            </a:endParaRPr>
          </a:p>
        </p:txBody>
      </p:sp>
      <p:sp>
        <p:nvSpPr>
          <p:cNvPr id="32" name="Google Shape;32;p4"/>
          <p:cNvSpPr/>
          <p:nvPr/>
        </p:nvSpPr>
        <p:spPr>
          <a:xfrm>
            <a:off x="457200" y="3026664"/>
            <a:ext cx="365760" cy="365760"/>
          </a:xfrm>
          <a:prstGeom prst="ellipse">
            <a:avLst/>
          </a:prstGeom>
          <a:solidFill>
            <a:srgbClr val="E8631A"/>
          </a:solidFill>
          <a:ln cap="flat" cmpd="sng" w="12700">
            <a:solidFill>
              <a:srgbClr val="E863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txBox="1"/>
          <p:nvPr/>
        </p:nvSpPr>
        <p:spPr>
          <a:xfrm>
            <a:off x="457200" y="302666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34" name="Google Shape;34;p4"/>
          <p:cNvSpPr txBox="1"/>
          <p:nvPr/>
        </p:nvSpPr>
        <p:spPr>
          <a:xfrm>
            <a:off x="987552" y="3008376"/>
            <a:ext cx="457200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500"/>
              <a:buFont typeface="Calibri"/>
              <a:buNone/>
            </a:pPr>
            <a:r>
              <a:rPr b="1" i="0" lang="en-US" sz="1500" u="none" cap="none" strike="noStrike">
                <a:solidFill>
                  <a:srgbClr val="121212"/>
                </a:solidFill>
                <a:latin typeface="Calibri"/>
                <a:ea typeface="Calibri"/>
                <a:cs typeface="Calibri"/>
                <a:sym typeface="Calibri"/>
              </a:rPr>
              <a:t>Discovery</a:t>
            </a:r>
            <a:r>
              <a:rPr b="0" i="0" lang="en-US" sz="1150" u="none" cap="none" strike="noStrike">
                <a:solidFill>
                  <a:srgbClr val="6B6B6B"/>
                </a:solidFill>
                <a:latin typeface="Calibri"/>
                <a:ea typeface="Calibri"/>
                <a:cs typeface="Calibri"/>
                <a:sym typeface="Calibri"/>
              </a:rPr>
              <a:t>   25 min</a:t>
            </a:r>
            <a:endParaRPr b="0" i="0" sz="1500" u="none" cap="none" strike="noStrike">
              <a:solidFill>
                <a:schemeClr val="dk1"/>
              </a:solidFill>
              <a:latin typeface="Calibri"/>
              <a:ea typeface="Calibri"/>
              <a:cs typeface="Calibri"/>
              <a:sym typeface="Calibri"/>
            </a:endParaRPr>
          </a:p>
        </p:txBody>
      </p:sp>
      <p:sp>
        <p:nvSpPr>
          <p:cNvPr id="35" name="Google Shape;35;p4"/>
          <p:cNvSpPr txBox="1"/>
          <p:nvPr/>
        </p:nvSpPr>
        <p:spPr>
          <a:xfrm>
            <a:off x="987552" y="3319272"/>
            <a:ext cx="4572000"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A3A3A"/>
              </a:buClr>
              <a:buSzPts val="1250"/>
              <a:buFont typeface="Calibri"/>
              <a:buNone/>
            </a:pPr>
            <a:r>
              <a:rPr b="0" i="0" lang="en-US" sz="1250" u="none" cap="none" strike="noStrike">
                <a:solidFill>
                  <a:srgbClr val="3A3A3A"/>
                </a:solidFill>
                <a:latin typeface="Calibri"/>
                <a:ea typeface="Calibri"/>
                <a:cs typeface="Calibri"/>
                <a:sym typeface="Calibri"/>
              </a:rPr>
              <a:t>A 25-minute first meeting with a buyer who agreed to talk to you.</a:t>
            </a:r>
            <a:endParaRPr b="0" i="0" sz="1250" u="none" cap="none" strike="noStrike">
              <a:solidFill>
                <a:schemeClr val="dk1"/>
              </a:solidFill>
              <a:latin typeface="Calibri"/>
              <a:ea typeface="Calibri"/>
              <a:cs typeface="Calibri"/>
              <a:sym typeface="Calibri"/>
            </a:endParaRPr>
          </a:p>
        </p:txBody>
      </p:sp>
      <p:sp>
        <p:nvSpPr>
          <p:cNvPr id="36" name="Google Shape;36;p4"/>
          <p:cNvSpPr txBox="1"/>
          <p:nvPr/>
        </p:nvSpPr>
        <p:spPr>
          <a:xfrm>
            <a:off x="457200" y="3959365"/>
            <a:ext cx="49377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6B6B6B"/>
              </a:buClr>
              <a:buSzPts val="1150"/>
              <a:buFont typeface="Calibri"/>
              <a:buNone/>
            </a:pPr>
            <a:r>
              <a:rPr lang="en-US" sz="1150">
                <a:solidFill>
                  <a:srgbClr val="6B6B6B"/>
                </a:solidFill>
                <a:latin typeface="Calibri"/>
                <a:ea typeface="Calibri"/>
                <a:cs typeface="Calibri"/>
                <a:sym typeface="Calibri"/>
              </a:rPr>
              <a:t>Each section will be timed to save time for questions and feedback. </a:t>
            </a:r>
            <a:endParaRPr b="0" i="0" sz="1150" u="none" cap="none" strike="noStrike">
              <a:solidFill>
                <a:schemeClr val="dk1"/>
              </a:solidFill>
              <a:latin typeface="Calibri"/>
              <a:ea typeface="Calibri"/>
              <a:cs typeface="Calibri"/>
              <a:sym typeface="Calibri"/>
            </a:endParaRPr>
          </a:p>
        </p:txBody>
      </p:sp>
      <p:sp>
        <p:nvSpPr>
          <p:cNvPr id="37" name="Google Shape;37;p4"/>
          <p:cNvSpPr/>
          <p:nvPr/>
        </p:nvSpPr>
        <p:spPr>
          <a:xfrm>
            <a:off x="5806450" y="1880300"/>
            <a:ext cx="2806500" cy="1561200"/>
          </a:xfrm>
          <a:prstGeom prst="roundRect">
            <a:avLst>
              <a:gd fmla="val 2540" name="adj"/>
            </a:avLst>
          </a:prstGeom>
          <a:solidFill>
            <a:srgbClr val="F4F1EC"/>
          </a:solidFill>
          <a:ln cap="flat" cmpd="sng" w="9525">
            <a:solidFill>
              <a:srgbClr val="F4F1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txBox="1"/>
          <p:nvPr/>
        </p:nvSpPr>
        <p:spPr>
          <a:xfrm>
            <a:off x="5998115" y="2075705"/>
            <a:ext cx="2423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050"/>
              <a:buFont typeface="Calibri"/>
              <a:buNone/>
            </a:pPr>
            <a:r>
              <a:rPr b="1" i="0" lang="en-US" sz="1050" u="none" cap="none" strike="noStrike">
                <a:solidFill>
                  <a:srgbClr val="6B6B6B"/>
                </a:solidFill>
                <a:latin typeface="Calibri"/>
                <a:ea typeface="Calibri"/>
                <a:cs typeface="Calibri"/>
                <a:sym typeface="Calibri"/>
              </a:rPr>
              <a:t>WHO’S IN THE ROOM</a:t>
            </a:r>
            <a:endParaRPr b="0" i="0" sz="1050" u="none" cap="none" strike="noStrike">
              <a:solidFill>
                <a:schemeClr val="dk1"/>
              </a:solidFill>
              <a:latin typeface="Calibri"/>
              <a:ea typeface="Calibri"/>
              <a:cs typeface="Calibri"/>
              <a:sym typeface="Calibri"/>
            </a:endParaRPr>
          </a:p>
        </p:txBody>
      </p:sp>
      <p:sp>
        <p:nvSpPr>
          <p:cNvPr id="39" name="Google Shape;39;p4"/>
          <p:cNvSpPr txBox="1"/>
          <p:nvPr/>
        </p:nvSpPr>
        <p:spPr>
          <a:xfrm>
            <a:off x="5998150" y="2368298"/>
            <a:ext cx="2423100" cy="932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21212"/>
              </a:buClr>
              <a:buSzPts val="1200"/>
              <a:buFont typeface="Calibri"/>
              <a:buNone/>
            </a:pPr>
            <a:r>
              <a:rPr b="1" i="0" lang="en-US" sz="1200" u="none" cap="none" strike="noStrike">
                <a:solidFill>
                  <a:srgbClr val="121212"/>
                </a:solidFill>
                <a:latin typeface="Calibri"/>
                <a:ea typeface="Calibri"/>
                <a:cs typeface="Calibri"/>
                <a:sym typeface="Calibri"/>
              </a:rPr>
              <a:t>Will Cronin</a:t>
            </a:r>
            <a:r>
              <a:rPr b="0" i="0" lang="en-US" sz="1200" u="none" cap="none" strike="noStrike">
                <a:solidFill>
                  <a:srgbClr val="121212"/>
                </a:solidFill>
                <a:latin typeface="Calibri"/>
                <a:ea typeface="Calibri"/>
                <a:cs typeface="Calibri"/>
                <a:sym typeface="Calibri"/>
              </a:rPr>
              <a:t> — </a:t>
            </a:r>
            <a:r>
              <a:rPr lang="en-US" sz="1200">
                <a:solidFill>
                  <a:srgbClr val="121212"/>
                </a:solidFill>
                <a:latin typeface="Calibri"/>
                <a:ea typeface="Calibri"/>
                <a:cs typeface="Calibri"/>
                <a:sym typeface="Calibri"/>
              </a:rPr>
              <a:t>Head of Commercial </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121212"/>
              </a:buClr>
              <a:buSzPts val="1200"/>
              <a:buFont typeface="Calibri"/>
              <a:buNone/>
            </a:pPr>
            <a:r>
              <a:rPr b="1" i="0" lang="en-US" sz="1200" u="none" cap="none" strike="noStrike">
                <a:solidFill>
                  <a:srgbClr val="121212"/>
                </a:solidFill>
                <a:latin typeface="Calibri"/>
                <a:ea typeface="Calibri"/>
                <a:cs typeface="Calibri"/>
                <a:sym typeface="Calibri"/>
              </a:rPr>
              <a:t>Kevan Zadeh</a:t>
            </a:r>
            <a:r>
              <a:rPr b="0" i="0" lang="en-US" sz="1200" u="none" cap="none" strike="noStrike">
                <a:solidFill>
                  <a:srgbClr val="121212"/>
                </a:solidFill>
                <a:latin typeface="Calibri"/>
                <a:ea typeface="Calibri"/>
                <a:cs typeface="Calibri"/>
                <a:sym typeface="Calibri"/>
              </a:rPr>
              <a:t> — COO</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121212"/>
              </a:buClr>
              <a:buSzPts val="12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5"/>
          <p:cNvSpPr txBox="1"/>
          <p:nvPr/>
        </p:nvSpPr>
        <p:spPr>
          <a:xfrm>
            <a:off x="457200" y="109728"/>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100"/>
              <a:buFont typeface="Calibri"/>
              <a:buNone/>
            </a:pPr>
            <a:r>
              <a:rPr b="1" i="0" lang="en-US" sz="1100" u="none" cap="none" strike="noStrike">
                <a:solidFill>
                  <a:srgbClr val="E8631A"/>
                </a:solidFill>
                <a:latin typeface="Calibri"/>
                <a:ea typeface="Calibri"/>
                <a:cs typeface="Calibri"/>
                <a:sym typeface="Calibri"/>
              </a:rPr>
              <a:t>SECTION 1  ·  15 MIN</a:t>
            </a:r>
            <a:endParaRPr b="0" i="0" sz="1100" u="none" cap="none" strike="noStrike">
              <a:solidFill>
                <a:schemeClr val="dk1"/>
              </a:solidFill>
              <a:latin typeface="Calibri"/>
              <a:ea typeface="Calibri"/>
              <a:cs typeface="Calibri"/>
              <a:sym typeface="Calibri"/>
            </a:endParaRPr>
          </a:p>
        </p:txBody>
      </p:sp>
      <p:sp>
        <p:nvSpPr>
          <p:cNvPr id="46" name="Google Shape;46;p5"/>
          <p:cNvSpPr txBox="1"/>
          <p:nvPr/>
        </p:nvSpPr>
        <p:spPr>
          <a:xfrm>
            <a:off x="457200" y="34747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3000"/>
              <a:buFont typeface="Calibri"/>
              <a:buNone/>
            </a:pPr>
            <a:r>
              <a:rPr b="1" i="0" lang="en-US" sz="3000" u="none" cap="none" strike="noStrike">
                <a:solidFill>
                  <a:srgbClr val="121212"/>
                </a:solidFill>
                <a:latin typeface="Calibri"/>
                <a:ea typeface="Calibri"/>
                <a:cs typeface="Calibri"/>
                <a:sym typeface="Calibri"/>
              </a:rPr>
              <a:t>Metal teach-back</a:t>
            </a:r>
            <a:endParaRPr b="0" i="0" sz="3000" u="none" cap="none" strike="noStrike">
              <a:solidFill>
                <a:schemeClr val="dk1"/>
              </a:solidFill>
              <a:latin typeface="Calibri"/>
              <a:ea typeface="Calibri"/>
              <a:cs typeface="Calibri"/>
              <a:sym typeface="Calibri"/>
            </a:endParaRPr>
          </a:p>
        </p:txBody>
      </p:sp>
      <p:sp>
        <p:nvSpPr>
          <p:cNvPr id="47" name="Google Shape;47;p5"/>
          <p:cNvSpPr/>
          <p:nvPr/>
        </p:nvSpPr>
        <p:spPr>
          <a:xfrm>
            <a:off x="457200" y="1143000"/>
            <a:ext cx="8229600" cy="1371600"/>
          </a:xfrm>
          <a:prstGeom prst="roundRect">
            <a:avLst>
              <a:gd fmla="val 5333" name="adj"/>
            </a:avLst>
          </a:prstGeom>
          <a:solidFill>
            <a:srgbClr val="F4F1EC"/>
          </a:solidFill>
          <a:ln cap="flat" cmpd="sng" w="9525">
            <a:solidFill>
              <a:srgbClr val="F4F1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txBox="1"/>
          <p:nvPr/>
        </p:nvSpPr>
        <p:spPr>
          <a:xfrm>
            <a:off x="731520" y="1280160"/>
            <a:ext cx="768096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21212"/>
              </a:buClr>
              <a:buSzPts val="1700"/>
              <a:buFont typeface="Calibri"/>
              <a:buNone/>
            </a:pPr>
            <a:r>
              <a:rPr b="0" i="1" lang="en-US" sz="1700" u="none" cap="none" strike="noStrike">
                <a:solidFill>
                  <a:srgbClr val="121212"/>
                </a:solidFill>
                <a:latin typeface="Calibri"/>
                <a:ea typeface="Calibri"/>
                <a:cs typeface="Calibri"/>
                <a:sym typeface="Calibri"/>
              </a:rPr>
              <a:t>“You have five minutes to explain PlanetScale Metal to a staff engineer who runs Postgres on Aurora and thinks they’re fine. Then he has five minutes of questions.”</a:t>
            </a:r>
            <a:endParaRPr b="0" i="0" sz="1700" u="none" cap="none" strike="noStrike">
              <a:solidFill>
                <a:schemeClr val="dk1"/>
              </a:solidFill>
              <a:latin typeface="Calibri"/>
              <a:ea typeface="Calibri"/>
              <a:cs typeface="Calibri"/>
              <a:sym typeface="Calibri"/>
            </a:endParaRPr>
          </a:p>
        </p:txBody>
      </p:sp>
      <p:sp>
        <p:nvSpPr>
          <p:cNvPr id="49" name="Google Shape;49;p5"/>
          <p:cNvSpPr txBox="1"/>
          <p:nvPr/>
        </p:nvSpPr>
        <p:spPr>
          <a:xfrm>
            <a:off x="457200" y="2788920"/>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050"/>
              <a:buFont typeface="Calibri"/>
              <a:buNone/>
            </a:pPr>
            <a:r>
              <a:rPr b="1" i="0" lang="en-US" sz="1050" u="none" cap="none" strike="noStrike">
                <a:solidFill>
                  <a:srgbClr val="6B6B6B"/>
                </a:solidFill>
                <a:latin typeface="Calibri"/>
                <a:ea typeface="Calibri"/>
                <a:cs typeface="Calibri"/>
                <a:sym typeface="Calibri"/>
              </a:rPr>
              <a:t>WHAT WE’RE LISTENING FOR</a:t>
            </a:r>
            <a:endParaRPr b="0" i="0" sz="1050" u="none" cap="none" strike="noStrike">
              <a:solidFill>
                <a:schemeClr val="dk1"/>
              </a:solidFill>
              <a:latin typeface="Calibri"/>
              <a:ea typeface="Calibri"/>
              <a:cs typeface="Calibri"/>
              <a:sym typeface="Calibri"/>
            </a:endParaRPr>
          </a:p>
        </p:txBody>
      </p:sp>
      <p:sp>
        <p:nvSpPr>
          <p:cNvPr id="50" name="Google Shape;50;p5"/>
          <p:cNvSpPr txBox="1"/>
          <p:nvPr/>
        </p:nvSpPr>
        <p:spPr>
          <a:xfrm>
            <a:off x="457200" y="3090672"/>
            <a:ext cx="39776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300"/>
              <a:buFont typeface="Calibri"/>
              <a:buNone/>
            </a:pPr>
            <a:r>
              <a:rPr b="1" i="0" lang="en-US" sz="1300" u="none" cap="none" strike="noStrike">
                <a:solidFill>
                  <a:srgbClr val="121212"/>
                </a:solidFill>
                <a:latin typeface="Calibri"/>
                <a:ea typeface="Calibri"/>
                <a:cs typeface="Calibri"/>
                <a:sym typeface="Calibri"/>
              </a:rPr>
              <a:t>Your words, not ours.</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3A3A3A"/>
              </a:buClr>
              <a:buSzPts val="1200"/>
              <a:buFont typeface="Calibri"/>
              <a:buNone/>
            </a:pPr>
            <a:r>
              <a:rPr b="0" i="0" lang="en-US" sz="1200" u="none" cap="none" strike="noStrike">
                <a:solidFill>
                  <a:srgbClr val="3A3A3A"/>
                </a:solidFill>
                <a:latin typeface="Calibri"/>
                <a:ea typeface="Calibri"/>
                <a:cs typeface="Calibri"/>
                <a:sym typeface="Calibri"/>
              </a:rPr>
              <a:t>If it sounds like the website, it isn’t landing.</a:t>
            </a:r>
            <a:endParaRPr b="0" i="0" sz="1300" u="none" cap="none" strike="noStrike">
              <a:solidFill>
                <a:schemeClr val="dk1"/>
              </a:solidFill>
              <a:latin typeface="Calibri"/>
              <a:ea typeface="Calibri"/>
              <a:cs typeface="Calibri"/>
              <a:sym typeface="Calibri"/>
            </a:endParaRPr>
          </a:p>
        </p:txBody>
      </p:sp>
      <p:sp>
        <p:nvSpPr>
          <p:cNvPr id="51" name="Google Shape;51;p5"/>
          <p:cNvSpPr txBox="1"/>
          <p:nvPr/>
        </p:nvSpPr>
        <p:spPr>
          <a:xfrm>
            <a:off x="4709160" y="3090672"/>
            <a:ext cx="39776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300"/>
              <a:buFont typeface="Calibri"/>
              <a:buNone/>
            </a:pPr>
            <a:r>
              <a:rPr b="1" i="0" lang="en-US" sz="1300" u="none" cap="none" strike="noStrike">
                <a:solidFill>
                  <a:srgbClr val="121212"/>
                </a:solidFill>
                <a:latin typeface="Calibri"/>
                <a:ea typeface="Calibri"/>
                <a:cs typeface="Calibri"/>
                <a:sym typeface="Calibri"/>
              </a:rPr>
              <a:t>One customer problem.</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3A3A3A"/>
              </a:buClr>
              <a:buSzPts val="1200"/>
              <a:buFont typeface="Calibri"/>
              <a:buNone/>
            </a:pPr>
            <a:r>
              <a:rPr b="0" i="0" lang="en-US" sz="1200" u="none" cap="none" strike="noStrike">
                <a:solidFill>
                  <a:srgbClr val="3A3A3A"/>
                </a:solidFill>
                <a:latin typeface="Calibri"/>
                <a:ea typeface="Calibri"/>
                <a:cs typeface="Calibri"/>
                <a:sym typeface="Calibri"/>
              </a:rPr>
              <a:t>What does the engineer feel that Metal fixes?</a:t>
            </a:r>
            <a:endParaRPr b="0" i="0" sz="1300" u="none" cap="none" strike="noStrike">
              <a:solidFill>
                <a:schemeClr val="dk1"/>
              </a:solidFill>
              <a:latin typeface="Calibri"/>
              <a:ea typeface="Calibri"/>
              <a:cs typeface="Calibri"/>
              <a:sym typeface="Calibri"/>
            </a:endParaRPr>
          </a:p>
        </p:txBody>
      </p:sp>
      <p:sp>
        <p:nvSpPr>
          <p:cNvPr id="52" name="Google Shape;52;p5"/>
          <p:cNvSpPr txBox="1"/>
          <p:nvPr/>
        </p:nvSpPr>
        <p:spPr>
          <a:xfrm>
            <a:off x="457200" y="3840480"/>
            <a:ext cx="39776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300"/>
              <a:buFont typeface="Calibri"/>
              <a:buNone/>
            </a:pPr>
            <a:r>
              <a:rPr b="1" i="0" lang="en-US" sz="1300" u="none" cap="none" strike="noStrike">
                <a:solidFill>
                  <a:srgbClr val="121212"/>
                </a:solidFill>
                <a:latin typeface="Calibri"/>
                <a:ea typeface="Calibri"/>
                <a:cs typeface="Calibri"/>
                <a:sym typeface="Calibri"/>
              </a:rPr>
              <a:t>The tradeoffs, unprompted.</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3A3A3A"/>
              </a:buClr>
              <a:buSzPts val="1200"/>
              <a:buFont typeface="Calibri"/>
              <a:buNone/>
            </a:pPr>
            <a:r>
              <a:rPr b="0" i="0" lang="en-US" sz="1200" u="none" cap="none" strike="noStrike">
                <a:solidFill>
                  <a:srgbClr val="3A3A3A"/>
                </a:solidFill>
                <a:latin typeface="Calibri"/>
                <a:ea typeface="Calibri"/>
                <a:cs typeface="Calibri"/>
                <a:sym typeface="Calibri"/>
              </a:rPr>
              <a:t>Know what it’s not for.</a:t>
            </a:r>
            <a:endParaRPr b="0" i="0" sz="1300" u="none" cap="none" strike="noStrike">
              <a:solidFill>
                <a:schemeClr val="dk1"/>
              </a:solidFill>
              <a:latin typeface="Calibri"/>
              <a:ea typeface="Calibri"/>
              <a:cs typeface="Calibri"/>
              <a:sym typeface="Calibri"/>
            </a:endParaRPr>
          </a:p>
        </p:txBody>
      </p:sp>
      <p:sp>
        <p:nvSpPr>
          <p:cNvPr id="53" name="Google Shape;53;p5"/>
          <p:cNvSpPr txBox="1"/>
          <p:nvPr/>
        </p:nvSpPr>
        <p:spPr>
          <a:xfrm>
            <a:off x="4709160" y="3840480"/>
            <a:ext cx="39776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1300"/>
              <a:buFont typeface="Calibri"/>
              <a:buNone/>
            </a:pPr>
            <a:r>
              <a:rPr b="1" i="0" lang="en-US" sz="1300" u="none" cap="none" strike="noStrike">
                <a:solidFill>
                  <a:srgbClr val="121212"/>
                </a:solidFill>
                <a:latin typeface="Calibri"/>
                <a:ea typeface="Calibri"/>
                <a:cs typeface="Calibri"/>
                <a:sym typeface="Calibri"/>
              </a:rPr>
              <a:t>“I don’t know,” once, cleanly.</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3A3A3A"/>
              </a:buClr>
              <a:buSzPts val="1200"/>
              <a:buFont typeface="Calibri"/>
              <a:buNone/>
            </a:pPr>
            <a:r>
              <a:rPr b="0" i="0" lang="en-US" sz="1200" u="none" cap="none" strike="noStrike">
                <a:solidFill>
                  <a:srgbClr val="3A3A3A"/>
                </a:solidFill>
                <a:latin typeface="Calibri"/>
                <a:ea typeface="Calibri"/>
                <a:cs typeface="Calibri"/>
                <a:sym typeface="Calibri"/>
              </a:rPr>
              <a:t>Better than a bluff. He’ll know.</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6"/>
          <p:cNvSpPr txBox="1"/>
          <p:nvPr/>
        </p:nvSpPr>
        <p:spPr>
          <a:xfrm>
            <a:off x="457200" y="109728"/>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100"/>
              <a:buFont typeface="Calibri"/>
              <a:buNone/>
            </a:pPr>
            <a:r>
              <a:rPr b="1" i="0" lang="en-US" sz="1100" u="none" cap="none" strike="noStrike">
                <a:solidFill>
                  <a:srgbClr val="E8631A"/>
                </a:solidFill>
                <a:latin typeface="Calibri"/>
                <a:ea typeface="Calibri"/>
                <a:cs typeface="Calibri"/>
                <a:sym typeface="Calibri"/>
              </a:rPr>
              <a:t>SECTION 2  ·  10 MIN</a:t>
            </a:r>
            <a:endParaRPr b="0" i="0" sz="1100" u="none" cap="none" strike="noStrike">
              <a:solidFill>
                <a:schemeClr val="dk1"/>
              </a:solidFill>
              <a:latin typeface="Calibri"/>
              <a:ea typeface="Calibri"/>
              <a:cs typeface="Calibri"/>
              <a:sym typeface="Calibri"/>
            </a:endParaRPr>
          </a:p>
        </p:txBody>
      </p:sp>
      <p:sp>
        <p:nvSpPr>
          <p:cNvPr id="60" name="Google Shape;60;p6"/>
          <p:cNvSpPr txBox="1"/>
          <p:nvPr/>
        </p:nvSpPr>
        <p:spPr>
          <a:xfrm>
            <a:off x="457200" y="34747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3000"/>
              <a:buFont typeface="Calibri"/>
              <a:buNone/>
            </a:pPr>
            <a:r>
              <a:rPr b="1" i="0" lang="en-US" sz="3000" u="none" cap="none" strike="noStrike">
                <a:solidFill>
                  <a:srgbClr val="121212"/>
                </a:solidFill>
                <a:latin typeface="Calibri"/>
                <a:ea typeface="Calibri"/>
                <a:cs typeface="Calibri"/>
                <a:sym typeface="Calibri"/>
              </a:rPr>
              <a:t>Cold call</a:t>
            </a:r>
            <a:endParaRPr b="0" i="0" sz="3000" u="none" cap="none" strike="noStrike">
              <a:solidFill>
                <a:schemeClr val="dk1"/>
              </a:solidFill>
              <a:latin typeface="Calibri"/>
              <a:ea typeface="Calibri"/>
              <a:cs typeface="Calibri"/>
              <a:sym typeface="Calibri"/>
            </a:endParaRPr>
          </a:p>
        </p:txBody>
      </p:sp>
      <p:sp>
        <p:nvSpPr>
          <p:cNvPr id="61" name="Google Shape;61;p6"/>
          <p:cNvSpPr/>
          <p:nvPr/>
        </p:nvSpPr>
        <p:spPr>
          <a:xfrm>
            <a:off x="457200" y="1097280"/>
            <a:ext cx="2621280" cy="658368"/>
          </a:xfrm>
          <a:prstGeom prst="roundRect">
            <a:avLst>
              <a:gd fmla="val 11111" name="adj"/>
            </a:avLst>
          </a:prstGeom>
          <a:solidFill>
            <a:srgbClr val="F4F1EC"/>
          </a:solidFill>
          <a:ln cap="flat" cmpd="sng" w="9525">
            <a:solidFill>
              <a:srgbClr val="F4F1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txBox="1"/>
          <p:nvPr/>
        </p:nvSpPr>
        <p:spPr>
          <a:xfrm>
            <a:off x="640080" y="1097280"/>
            <a:ext cx="2255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31A"/>
              </a:buClr>
              <a:buSzPts val="1400"/>
              <a:buFont typeface="Calibri"/>
              <a:buNone/>
            </a:pPr>
            <a:r>
              <a:rPr b="1" i="0" lang="en-US" sz="1400" u="none" cap="none" strike="noStrike">
                <a:solidFill>
                  <a:srgbClr val="E8631A"/>
                </a:solidFill>
                <a:latin typeface="Calibri"/>
                <a:ea typeface="Calibri"/>
                <a:cs typeface="Calibri"/>
                <a:sym typeface="Calibri"/>
              </a:rPr>
              <a:t>3 min  </a:t>
            </a:r>
            <a:r>
              <a:rPr b="0" i="0" lang="en-US" sz="1300" u="none" cap="none" strike="noStrike">
                <a:solidFill>
                  <a:srgbClr val="121212"/>
                </a:solidFill>
                <a:latin typeface="Calibri"/>
                <a:ea typeface="Calibri"/>
                <a:cs typeface="Calibri"/>
                <a:sym typeface="Calibri"/>
              </a:rPr>
              <a:t>The call</a:t>
            </a:r>
            <a:endParaRPr b="0" i="0" sz="1400" u="none" cap="none" strike="noStrike">
              <a:solidFill>
                <a:schemeClr val="dk1"/>
              </a:solidFill>
              <a:latin typeface="Calibri"/>
              <a:ea typeface="Calibri"/>
              <a:cs typeface="Calibri"/>
              <a:sym typeface="Calibri"/>
            </a:endParaRPr>
          </a:p>
        </p:txBody>
      </p:sp>
      <p:sp>
        <p:nvSpPr>
          <p:cNvPr id="63" name="Google Shape;63;p6"/>
          <p:cNvSpPr/>
          <p:nvPr/>
        </p:nvSpPr>
        <p:spPr>
          <a:xfrm>
            <a:off x="3261360" y="1097280"/>
            <a:ext cx="2621280" cy="658368"/>
          </a:xfrm>
          <a:prstGeom prst="roundRect">
            <a:avLst>
              <a:gd fmla="val 11111" name="adj"/>
            </a:avLst>
          </a:prstGeom>
          <a:solidFill>
            <a:srgbClr val="F4F1EC"/>
          </a:solidFill>
          <a:ln cap="flat" cmpd="sng" w="9525">
            <a:solidFill>
              <a:srgbClr val="F4F1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txBox="1"/>
          <p:nvPr/>
        </p:nvSpPr>
        <p:spPr>
          <a:xfrm>
            <a:off x="3444240" y="1097280"/>
            <a:ext cx="2255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31A"/>
              </a:buClr>
              <a:buSzPts val="1400"/>
              <a:buFont typeface="Calibri"/>
              <a:buNone/>
            </a:pPr>
            <a:r>
              <a:rPr b="1" i="0" lang="en-US" sz="1400" u="none" cap="none" strike="noStrike">
                <a:solidFill>
                  <a:srgbClr val="E8631A"/>
                </a:solidFill>
                <a:latin typeface="Calibri"/>
                <a:ea typeface="Calibri"/>
                <a:cs typeface="Calibri"/>
                <a:sym typeface="Calibri"/>
              </a:rPr>
              <a:t>2 min  </a:t>
            </a:r>
            <a:r>
              <a:rPr b="0" i="0" lang="en-US" sz="1300" u="none" cap="none" strike="noStrike">
                <a:solidFill>
                  <a:srgbClr val="121212"/>
                </a:solidFill>
                <a:latin typeface="Calibri"/>
                <a:ea typeface="Calibri"/>
                <a:cs typeface="Calibri"/>
                <a:sym typeface="Calibri"/>
              </a:rPr>
              <a:t>One piece of feedback</a:t>
            </a:r>
            <a:endParaRPr b="0" i="0" sz="1400" u="none" cap="none" strike="noStrike">
              <a:solidFill>
                <a:schemeClr val="dk1"/>
              </a:solidFill>
              <a:latin typeface="Calibri"/>
              <a:ea typeface="Calibri"/>
              <a:cs typeface="Calibri"/>
              <a:sym typeface="Calibri"/>
            </a:endParaRPr>
          </a:p>
        </p:txBody>
      </p:sp>
      <p:sp>
        <p:nvSpPr>
          <p:cNvPr id="65" name="Google Shape;65;p6"/>
          <p:cNvSpPr/>
          <p:nvPr/>
        </p:nvSpPr>
        <p:spPr>
          <a:xfrm>
            <a:off x="6065520" y="1097280"/>
            <a:ext cx="2621280" cy="658368"/>
          </a:xfrm>
          <a:prstGeom prst="roundRect">
            <a:avLst>
              <a:gd fmla="val 11111" name="adj"/>
            </a:avLst>
          </a:prstGeom>
          <a:solidFill>
            <a:srgbClr val="F4F1EC"/>
          </a:solidFill>
          <a:ln cap="flat" cmpd="sng" w="9525">
            <a:solidFill>
              <a:srgbClr val="F4F1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txBox="1"/>
          <p:nvPr/>
        </p:nvSpPr>
        <p:spPr>
          <a:xfrm>
            <a:off x="6248400" y="1097280"/>
            <a:ext cx="2255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31A"/>
              </a:buClr>
              <a:buSzPts val="1400"/>
              <a:buFont typeface="Calibri"/>
              <a:buNone/>
            </a:pPr>
            <a:r>
              <a:rPr b="1" i="0" lang="en-US" sz="1400" u="none" cap="none" strike="noStrike">
                <a:solidFill>
                  <a:srgbClr val="E8631A"/>
                </a:solidFill>
                <a:latin typeface="Calibri"/>
                <a:ea typeface="Calibri"/>
                <a:cs typeface="Calibri"/>
                <a:sym typeface="Calibri"/>
              </a:rPr>
              <a:t>3 min  </a:t>
            </a:r>
            <a:r>
              <a:rPr b="0" i="0" lang="en-US" sz="1300" u="none" cap="none" strike="noStrike">
                <a:solidFill>
                  <a:srgbClr val="121212"/>
                </a:solidFill>
                <a:latin typeface="Calibri"/>
                <a:ea typeface="Calibri"/>
                <a:cs typeface="Calibri"/>
                <a:sym typeface="Calibri"/>
              </a:rPr>
              <a:t>The call again</a:t>
            </a:r>
            <a:endParaRPr b="0" i="0" sz="1400" u="none" cap="none" strike="noStrike">
              <a:solidFill>
                <a:schemeClr val="dk1"/>
              </a:solidFill>
              <a:latin typeface="Calibri"/>
              <a:ea typeface="Calibri"/>
              <a:cs typeface="Calibri"/>
              <a:sym typeface="Calibri"/>
            </a:endParaRPr>
          </a:p>
        </p:txBody>
      </p:sp>
      <p:sp>
        <p:nvSpPr>
          <p:cNvPr id="67" name="Google Shape;67;p6"/>
          <p:cNvSpPr/>
          <p:nvPr/>
        </p:nvSpPr>
        <p:spPr>
          <a:xfrm>
            <a:off x="457200" y="1965960"/>
            <a:ext cx="5120640" cy="2651760"/>
          </a:xfrm>
          <a:prstGeom prst="roundRect">
            <a:avLst>
              <a:gd fmla="val 2759" name="adj"/>
            </a:avLst>
          </a:prstGeom>
          <a:solidFill>
            <a:srgbClr val="FFFFFF"/>
          </a:solidFill>
          <a:ln cap="flat" cmpd="sng" w="12700">
            <a:solidFill>
              <a:srgbClr val="D9D4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nvSpPr>
        <p:spPr>
          <a:xfrm>
            <a:off x="685800" y="2121408"/>
            <a:ext cx="4572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050"/>
              <a:buFont typeface="Calibri"/>
              <a:buNone/>
            </a:pPr>
            <a:r>
              <a:rPr b="1" i="0" lang="en-US" sz="1050" u="none" cap="none" strike="noStrike">
                <a:solidFill>
                  <a:srgbClr val="6B6B6B"/>
                </a:solidFill>
                <a:latin typeface="Calibri"/>
                <a:ea typeface="Calibri"/>
                <a:cs typeface="Calibri"/>
                <a:sym typeface="Calibri"/>
              </a:rPr>
              <a:t>THE ACCOUNT  ·  FICTIONAL</a:t>
            </a:r>
            <a:endParaRPr b="0" i="0" sz="1050" u="none" cap="none" strike="noStrike">
              <a:solidFill>
                <a:schemeClr val="dk1"/>
              </a:solidFill>
              <a:latin typeface="Calibri"/>
              <a:ea typeface="Calibri"/>
              <a:cs typeface="Calibri"/>
              <a:sym typeface="Calibri"/>
            </a:endParaRPr>
          </a:p>
        </p:txBody>
      </p:sp>
      <p:sp>
        <p:nvSpPr>
          <p:cNvPr id="69" name="Google Shape;69;p6"/>
          <p:cNvSpPr txBox="1"/>
          <p:nvPr/>
        </p:nvSpPr>
        <p:spPr>
          <a:xfrm>
            <a:off x="685800" y="23317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000"/>
              <a:buFont typeface="Calibri"/>
              <a:buNone/>
            </a:pPr>
            <a:r>
              <a:rPr b="1" lang="en-US" sz="2000">
                <a:solidFill>
                  <a:srgbClr val="121212"/>
                </a:solidFill>
                <a:latin typeface="Calibri"/>
                <a:ea typeface="Calibri"/>
                <a:cs typeface="Calibri"/>
                <a:sym typeface="Calibri"/>
              </a:rPr>
              <a:t>Honeycomb</a:t>
            </a:r>
            <a:endParaRPr b="0" i="0" sz="2000" u="none" cap="none" strike="noStrike">
              <a:solidFill>
                <a:schemeClr val="dk1"/>
              </a:solidFill>
              <a:latin typeface="Calibri"/>
              <a:ea typeface="Calibri"/>
              <a:cs typeface="Calibri"/>
              <a:sym typeface="Calibri"/>
            </a:endParaRPr>
          </a:p>
        </p:txBody>
      </p:sp>
      <p:sp>
        <p:nvSpPr>
          <p:cNvPr id="70" name="Google Shape;70;p6"/>
          <p:cNvSpPr txBox="1"/>
          <p:nvPr/>
        </p:nvSpPr>
        <p:spPr>
          <a:xfrm>
            <a:off x="685800" y="2697480"/>
            <a:ext cx="4663440" cy="1188720"/>
          </a:xfrm>
          <a:prstGeom prst="rect">
            <a:avLst/>
          </a:prstGeom>
          <a:noFill/>
          <a:ln>
            <a:noFill/>
          </a:ln>
        </p:spPr>
        <p:txBody>
          <a:bodyPr anchorCtr="0" anchor="t" bIns="0" lIns="0" spcFirstLastPara="1" rIns="0" wrap="square" tIns="0">
            <a:noAutofit/>
          </a:bodyPr>
          <a:lstStyle/>
          <a:p>
            <a:pPr indent="-152400" lvl="0" marL="152400" marR="0" rtl="0" algn="l">
              <a:lnSpc>
                <a:spcPct val="105000"/>
              </a:lnSpc>
              <a:spcBef>
                <a:spcPts val="300"/>
              </a:spcBef>
              <a:spcAft>
                <a:spcPts val="0"/>
              </a:spcAft>
              <a:buClr>
                <a:srgbClr val="121212"/>
              </a:buClr>
              <a:buSzPts val="1100"/>
              <a:buFont typeface="Calibri"/>
              <a:buChar char="•"/>
            </a:pPr>
            <a:r>
              <a:rPr lang="en-US" sz="1100">
                <a:solidFill>
                  <a:srgbClr val="121212"/>
                </a:solidFill>
                <a:latin typeface="Calibri"/>
                <a:ea typeface="Calibri"/>
                <a:cs typeface="Calibri"/>
                <a:sym typeface="Calibri"/>
              </a:rPr>
              <a:t>Observability platform. Engineers use it to debug production. honeycomb.io</a:t>
            </a:r>
            <a:endParaRPr sz="1100">
              <a:solidFill>
                <a:srgbClr val="121212"/>
              </a:solidFill>
              <a:latin typeface="Calibri"/>
              <a:ea typeface="Calibri"/>
              <a:cs typeface="Calibri"/>
              <a:sym typeface="Calibri"/>
            </a:endParaRPr>
          </a:p>
          <a:p>
            <a:pPr indent="-152400" lvl="0" marL="152400" marR="0" rtl="0" algn="l">
              <a:lnSpc>
                <a:spcPct val="105000"/>
              </a:lnSpc>
              <a:spcBef>
                <a:spcPts val="300"/>
              </a:spcBef>
              <a:spcAft>
                <a:spcPts val="0"/>
              </a:spcAft>
              <a:buClr>
                <a:srgbClr val="121212"/>
              </a:buClr>
              <a:buSzPts val="1100"/>
              <a:buFont typeface="Calibri"/>
              <a:buChar char="•"/>
            </a:pPr>
            <a:r>
              <a:rPr lang="en-US" sz="1100">
                <a:solidFill>
                  <a:srgbClr val="121212"/>
                </a:solidFill>
                <a:latin typeface="Calibri"/>
                <a:ea typeface="Calibri"/>
                <a:cs typeface="Calibri"/>
                <a:sym typeface="Calibri"/>
              </a:rPr>
              <a:t>San Francisco. Founded 2016. About $150M raised, most recently a $50M Series D.</a:t>
            </a:r>
            <a:endParaRPr sz="1100">
              <a:solidFill>
                <a:srgbClr val="121212"/>
              </a:solidFill>
              <a:latin typeface="Calibri"/>
              <a:ea typeface="Calibri"/>
              <a:cs typeface="Calibri"/>
              <a:sym typeface="Calibri"/>
            </a:endParaRPr>
          </a:p>
          <a:p>
            <a:pPr indent="-152400" lvl="0" marL="152400" marR="0" rtl="0" algn="l">
              <a:lnSpc>
                <a:spcPct val="105000"/>
              </a:lnSpc>
              <a:spcBef>
                <a:spcPts val="300"/>
              </a:spcBef>
              <a:spcAft>
                <a:spcPts val="0"/>
              </a:spcAft>
              <a:buClr>
                <a:srgbClr val="121212"/>
              </a:buClr>
              <a:buSzPts val="1100"/>
              <a:buFont typeface="Calibri"/>
              <a:buChar char="•"/>
            </a:pPr>
            <a:r>
              <a:rPr lang="en-US" sz="1100">
                <a:solidFill>
                  <a:srgbClr val="121212"/>
                </a:solidFill>
                <a:latin typeface="Calibri"/>
                <a:ea typeface="Calibri"/>
                <a:cs typeface="Calibri"/>
                <a:sym typeface="Calibri"/>
              </a:rPr>
              <a:t>Customers include Slack, Intercom, Duolingo, and Booking.com.</a:t>
            </a:r>
            <a:endParaRPr sz="1100">
              <a:solidFill>
                <a:srgbClr val="121212"/>
              </a:solidFill>
              <a:latin typeface="Calibri"/>
              <a:ea typeface="Calibri"/>
              <a:cs typeface="Calibri"/>
              <a:sym typeface="Calibri"/>
            </a:endParaRPr>
          </a:p>
        </p:txBody>
      </p:sp>
      <p:sp>
        <p:nvSpPr>
          <p:cNvPr id="71" name="Google Shape;71;p6"/>
          <p:cNvSpPr txBox="1"/>
          <p:nvPr/>
        </p:nvSpPr>
        <p:spPr>
          <a:xfrm>
            <a:off x="685800" y="3575310"/>
            <a:ext cx="4572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050"/>
              <a:buFont typeface="Calibri"/>
              <a:buNone/>
            </a:pPr>
            <a:r>
              <a:rPr b="1" i="0" lang="en-US" sz="1050" u="none" cap="none" strike="noStrike">
                <a:solidFill>
                  <a:srgbClr val="6B6B6B"/>
                </a:solidFill>
                <a:latin typeface="Calibri"/>
                <a:ea typeface="Calibri"/>
                <a:cs typeface="Calibri"/>
                <a:sym typeface="Calibri"/>
              </a:rPr>
              <a:t>YOU’RE CALLING</a:t>
            </a:r>
            <a:endParaRPr b="0" i="0" sz="1050" u="none" cap="none" strike="noStrike">
              <a:solidFill>
                <a:schemeClr val="dk1"/>
              </a:solidFill>
              <a:latin typeface="Calibri"/>
              <a:ea typeface="Calibri"/>
              <a:cs typeface="Calibri"/>
              <a:sym typeface="Calibri"/>
            </a:endParaRPr>
          </a:p>
        </p:txBody>
      </p:sp>
      <p:sp>
        <p:nvSpPr>
          <p:cNvPr id="72" name="Google Shape;72;p6"/>
          <p:cNvSpPr txBox="1"/>
          <p:nvPr/>
        </p:nvSpPr>
        <p:spPr>
          <a:xfrm>
            <a:off x="685775" y="3803903"/>
            <a:ext cx="4663500" cy="365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21212"/>
              </a:buClr>
              <a:buSzPts val="1300"/>
              <a:buFont typeface="Calibri"/>
              <a:buNone/>
            </a:pPr>
            <a:r>
              <a:rPr b="1" lang="en-US" sz="1300">
                <a:solidFill>
                  <a:srgbClr val="121212"/>
                </a:solidFill>
                <a:latin typeface="Calibri"/>
                <a:ea typeface="Calibri"/>
                <a:cs typeface="Calibri"/>
                <a:sym typeface="Calibri"/>
              </a:rPr>
              <a:t>Fred Hebert </a:t>
            </a:r>
            <a:r>
              <a:rPr lang="en-US" sz="1300">
                <a:solidFill>
                  <a:srgbClr val="121212"/>
                </a:solidFill>
                <a:latin typeface="Calibri"/>
                <a:ea typeface="Calibri"/>
                <a:cs typeface="Calibri"/>
                <a:sym typeface="Calibri"/>
              </a:rPr>
              <a:t>· Principal Engineer · linkedin.com/in/fredth</a:t>
            </a:r>
            <a:endParaRPr sz="1300">
              <a:solidFill>
                <a:srgbClr val="121212"/>
              </a:solidFill>
              <a:latin typeface="Calibri"/>
              <a:ea typeface="Calibri"/>
              <a:cs typeface="Calibri"/>
              <a:sym typeface="Calibri"/>
            </a:endParaRPr>
          </a:p>
        </p:txBody>
      </p:sp>
      <p:sp>
        <p:nvSpPr>
          <p:cNvPr id="73" name="Google Shape;73;p6"/>
          <p:cNvSpPr/>
          <p:nvPr/>
        </p:nvSpPr>
        <p:spPr>
          <a:xfrm>
            <a:off x="5852160" y="1965960"/>
            <a:ext cx="2834640" cy="2651760"/>
          </a:xfrm>
          <a:prstGeom prst="roundRect">
            <a:avLst>
              <a:gd fmla="val 2759" name="adj"/>
            </a:avLst>
          </a:prstGeom>
          <a:solidFill>
            <a:srgbClr val="121212"/>
          </a:solidFill>
          <a:ln cap="flat" cmpd="sng" w="9525">
            <a:solidFill>
              <a:srgbClr val="1212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txBox="1"/>
          <p:nvPr/>
        </p:nvSpPr>
        <p:spPr>
          <a:xfrm>
            <a:off x="6080760" y="2121408"/>
            <a:ext cx="23774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050"/>
              <a:buFont typeface="Calibri"/>
              <a:buNone/>
            </a:pPr>
            <a:r>
              <a:rPr b="1" i="0" lang="en-US" sz="1050" u="none" cap="none" strike="noStrike">
                <a:solidFill>
                  <a:srgbClr val="E8631A"/>
                </a:solidFill>
                <a:latin typeface="Calibri"/>
                <a:ea typeface="Calibri"/>
                <a:cs typeface="Calibri"/>
                <a:sym typeface="Calibri"/>
              </a:rPr>
              <a:t>THE GOAL</a:t>
            </a:r>
            <a:endParaRPr b="0" i="0" sz="1050" u="none" cap="none" strike="noStrike">
              <a:solidFill>
                <a:schemeClr val="dk1"/>
              </a:solidFill>
              <a:latin typeface="Calibri"/>
              <a:ea typeface="Calibri"/>
              <a:cs typeface="Calibri"/>
              <a:sym typeface="Calibri"/>
            </a:endParaRPr>
          </a:p>
        </p:txBody>
      </p:sp>
      <p:sp>
        <p:nvSpPr>
          <p:cNvPr id="75" name="Google Shape;75;p6"/>
          <p:cNvSpPr txBox="1"/>
          <p:nvPr/>
        </p:nvSpPr>
        <p:spPr>
          <a:xfrm>
            <a:off x="6080760" y="2395728"/>
            <a:ext cx="2377440" cy="2103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Earn a 20-minute conversation with a specific reason attached.</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Or a referral to the right person, with permission to use his name.</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He won’t say yes just to get off the phone.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7"/>
          <p:cNvSpPr txBox="1"/>
          <p:nvPr/>
        </p:nvSpPr>
        <p:spPr>
          <a:xfrm>
            <a:off x="457200" y="109728"/>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100"/>
              <a:buFont typeface="Calibri"/>
              <a:buNone/>
            </a:pPr>
            <a:r>
              <a:rPr b="1" i="0" lang="en-US" sz="1100" u="none" cap="none" strike="noStrike">
                <a:solidFill>
                  <a:srgbClr val="E8631A"/>
                </a:solidFill>
                <a:latin typeface="Calibri"/>
                <a:ea typeface="Calibri"/>
                <a:cs typeface="Calibri"/>
                <a:sym typeface="Calibri"/>
              </a:rPr>
              <a:t>SECTION 3  ·  25 MIN</a:t>
            </a:r>
            <a:endParaRPr b="0" i="0" sz="1100" u="none" cap="none" strike="noStrike">
              <a:solidFill>
                <a:schemeClr val="dk1"/>
              </a:solidFill>
              <a:latin typeface="Calibri"/>
              <a:ea typeface="Calibri"/>
              <a:cs typeface="Calibri"/>
              <a:sym typeface="Calibri"/>
            </a:endParaRPr>
          </a:p>
        </p:txBody>
      </p:sp>
      <p:sp>
        <p:nvSpPr>
          <p:cNvPr id="82" name="Google Shape;82;p7"/>
          <p:cNvSpPr txBox="1"/>
          <p:nvPr/>
        </p:nvSpPr>
        <p:spPr>
          <a:xfrm>
            <a:off x="457200" y="34747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212"/>
              </a:buClr>
              <a:buSzPts val="3000"/>
              <a:buFont typeface="Calibri"/>
              <a:buNone/>
            </a:pPr>
            <a:r>
              <a:rPr b="1" i="0" lang="en-US" sz="3000" u="none" cap="none" strike="noStrike">
                <a:solidFill>
                  <a:srgbClr val="121212"/>
                </a:solidFill>
                <a:latin typeface="Calibri"/>
                <a:ea typeface="Calibri"/>
                <a:cs typeface="Calibri"/>
                <a:sym typeface="Calibri"/>
              </a:rPr>
              <a:t>Discovery</a:t>
            </a:r>
            <a:endParaRPr b="0" i="0" sz="3000" u="none" cap="none" strike="noStrike">
              <a:solidFill>
                <a:schemeClr val="dk1"/>
              </a:solidFill>
              <a:latin typeface="Calibri"/>
              <a:ea typeface="Calibri"/>
              <a:cs typeface="Calibri"/>
              <a:sym typeface="Calibri"/>
            </a:endParaRPr>
          </a:p>
        </p:txBody>
      </p:sp>
      <p:sp>
        <p:nvSpPr>
          <p:cNvPr id="83" name="Google Shape;83;p7"/>
          <p:cNvSpPr txBox="1"/>
          <p:nvPr/>
        </p:nvSpPr>
        <p:spPr>
          <a:xfrm>
            <a:off x="457200" y="896110"/>
            <a:ext cx="51207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A3A3A"/>
              </a:buClr>
              <a:buSzPts val="1250"/>
              <a:buFont typeface="Calibri"/>
              <a:buNone/>
            </a:pPr>
            <a:r>
              <a:rPr lang="en-US" sz="1250">
                <a:solidFill>
                  <a:srgbClr val="3A3A3A"/>
                </a:solidFill>
                <a:latin typeface="Calibri"/>
                <a:ea typeface="Calibri"/>
                <a:cs typeface="Calibri"/>
                <a:sym typeface="Calibri"/>
              </a:rPr>
              <a:t>Assume the cold call worked. Fred pointed you to the person who runs platform engineering, and you got 25 minutes. </a:t>
            </a:r>
            <a:endParaRPr b="0" i="0" sz="1250" u="none" cap="none" strike="noStrike">
              <a:solidFill>
                <a:schemeClr val="dk1"/>
              </a:solidFill>
              <a:latin typeface="Calibri"/>
              <a:ea typeface="Calibri"/>
              <a:cs typeface="Calibri"/>
              <a:sym typeface="Calibri"/>
            </a:endParaRPr>
          </a:p>
        </p:txBody>
      </p:sp>
      <p:sp>
        <p:nvSpPr>
          <p:cNvPr id="84" name="Google Shape;84;p7"/>
          <p:cNvSpPr/>
          <p:nvPr/>
        </p:nvSpPr>
        <p:spPr>
          <a:xfrm>
            <a:off x="457200" y="1600200"/>
            <a:ext cx="5120640" cy="3017520"/>
          </a:xfrm>
          <a:prstGeom prst="roundRect">
            <a:avLst>
              <a:gd fmla="val 2424" name="adj"/>
            </a:avLst>
          </a:prstGeom>
          <a:solidFill>
            <a:srgbClr val="FFFFFF"/>
          </a:solidFill>
          <a:ln cap="flat" cmpd="sng" w="12700">
            <a:solidFill>
              <a:srgbClr val="D9D4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txBox="1"/>
          <p:nvPr/>
        </p:nvSpPr>
        <p:spPr>
          <a:xfrm>
            <a:off x="685800" y="1755648"/>
            <a:ext cx="4572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050"/>
              <a:buFont typeface="Calibri"/>
              <a:buNone/>
            </a:pPr>
            <a:r>
              <a:rPr b="1" i="0" lang="en-US" sz="1050" u="none" cap="none" strike="noStrike">
                <a:solidFill>
                  <a:srgbClr val="6B6B6B"/>
                </a:solidFill>
                <a:latin typeface="Calibri"/>
                <a:ea typeface="Calibri"/>
                <a:cs typeface="Calibri"/>
                <a:sym typeface="Calibri"/>
              </a:rPr>
              <a:t>THE ACCOUNT </a:t>
            </a:r>
            <a:endParaRPr b="0" i="0" sz="1050" u="none" cap="none" strike="noStrike">
              <a:solidFill>
                <a:schemeClr val="dk1"/>
              </a:solidFill>
              <a:latin typeface="Calibri"/>
              <a:ea typeface="Calibri"/>
              <a:cs typeface="Calibri"/>
              <a:sym typeface="Calibri"/>
            </a:endParaRPr>
          </a:p>
        </p:txBody>
      </p:sp>
      <p:sp>
        <p:nvSpPr>
          <p:cNvPr id="86" name="Google Shape;86;p7"/>
          <p:cNvSpPr txBox="1"/>
          <p:nvPr/>
        </p:nvSpPr>
        <p:spPr>
          <a:xfrm>
            <a:off x="685800" y="196596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1212"/>
              </a:buClr>
              <a:buSzPts val="2000"/>
              <a:buFont typeface="Calibri"/>
              <a:buNone/>
            </a:pPr>
            <a:r>
              <a:rPr b="1" lang="en-US" sz="1100">
                <a:solidFill>
                  <a:schemeClr val="dk1"/>
                </a:solidFill>
              </a:rPr>
              <a:t>Honeycomb.</a:t>
            </a:r>
            <a:r>
              <a:rPr lang="en-US" sz="1100">
                <a:solidFill>
                  <a:schemeClr val="dk1"/>
                </a:solidFill>
              </a:rPr>
              <a:t> Same account as the cold call. Use what you found.</a:t>
            </a:r>
            <a:endParaRPr b="0" i="0" sz="2000" u="none" cap="none" strike="noStrike">
              <a:solidFill>
                <a:schemeClr val="dk1"/>
              </a:solidFill>
              <a:latin typeface="Calibri"/>
              <a:ea typeface="Calibri"/>
              <a:cs typeface="Calibri"/>
              <a:sym typeface="Calibri"/>
            </a:endParaRPr>
          </a:p>
        </p:txBody>
      </p:sp>
      <p:sp>
        <p:nvSpPr>
          <p:cNvPr id="87" name="Google Shape;87;p7"/>
          <p:cNvSpPr txBox="1"/>
          <p:nvPr/>
        </p:nvSpPr>
        <p:spPr>
          <a:xfrm>
            <a:off x="670650" y="2276812"/>
            <a:ext cx="4693800" cy="1042500"/>
          </a:xfrm>
          <a:prstGeom prst="rect">
            <a:avLst/>
          </a:prstGeom>
          <a:noFill/>
          <a:ln>
            <a:noFill/>
          </a:ln>
        </p:spPr>
        <p:txBody>
          <a:bodyPr anchorCtr="0" anchor="t" bIns="0" lIns="0" spcFirstLastPara="1" rIns="0" wrap="square" tIns="0">
            <a:noAutofit/>
          </a:bodyPr>
          <a:lstStyle/>
          <a:p>
            <a:pPr indent="-139700" lvl="0" marL="152400" marR="0" rtl="0" algn="l">
              <a:lnSpc>
                <a:spcPct val="105000"/>
              </a:lnSpc>
              <a:spcBef>
                <a:spcPts val="300"/>
              </a:spcBef>
              <a:spcAft>
                <a:spcPts val="0"/>
              </a:spcAft>
              <a:buClr>
                <a:srgbClr val="121212"/>
              </a:buClr>
              <a:buSzPts val="950"/>
              <a:buFont typeface="Calibri"/>
              <a:buChar char="•"/>
            </a:pPr>
            <a:r>
              <a:rPr lang="en-US" sz="950">
                <a:solidFill>
                  <a:srgbClr val="121212"/>
                </a:solidFill>
                <a:latin typeface="Calibri"/>
                <a:ea typeface="Calibri"/>
                <a:cs typeface="Calibri"/>
                <a:sym typeface="Calibri"/>
              </a:rPr>
              <a:t>Observability platform. Engineers use it to see what's happening in production and debug it fast.</a:t>
            </a:r>
            <a:endParaRPr sz="950">
              <a:solidFill>
                <a:srgbClr val="121212"/>
              </a:solidFill>
              <a:latin typeface="Calibri"/>
              <a:ea typeface="Calibri"/>
              <a:cs typeface="Calibri"/>
              <a:sym typeface="Calibri"/>
            </a:endParaRPr>
          </a:p>
          <a:p>
            <a:pPr indent="-139700" lvl="0" marL="152400" marR="0" rtl="0" algn="l">
              <a:lnSpc>
                <a:spcPct val="105000"/>
              </a:lnSpc>
              <a:spcBef>
                <a:spcPts val="300"/>
              </a:spcBef>
              <a:spcAft>
                <a:spcPts val="0"/>
              </a:spcAft>
              <a:buClr>
                <a:srgbClr val="121212"/>
              </a:buClr>
              <a:buSzPts val="950"/>
              <a:buFont typeface="Calibri"/>
              <a:buChar char="•"/>
            </a:pPr>
            <a:r>
              <a:rPr lang="en-US" sz="950">
                <a:solidFill>
                  <a:srgbClr val="121212"/>
                </a:solidFill>
                <a:latin typeface="Calibri"/>
                <a:ea typeface="Calibri"/>
                <a:cs typeface="Calibri"/>
                <a:sym typeface="Calibri"/>
              </a:rPr>
              <a:t>About $150M raised, most recently a $50M Series D. Customers include Slack, Intercom, Duolingo, and Booking.com.</a:t>
            </a:r>
            <a:endParaRPr sz="950">
              <a:solidFill>
                <a:srgbClr val="121212"/>
              </a:solidFill>
              <a:latin typeface="Calibri"/>
              <a:ea typeface="Calibri"/>
              <a:cs typeface="Calibri"/>
              <a:sym typeface="Calibri"/>
            </a:endParaRPr>
          </a:p>
          <a:p>
            <a:pPr indent="-139700" lvl="0" marL="152400" marR="0" rtl="0" algn="l">
              <a:lnSpc>
                <a:spcPct val="105000"/>
              </a:lnSpc>
              <a:spcBef>
                <a:spcPts val="300"/>
              </a:spcBef>
              <a:spcAft>
                <a:spcPts val="0"/>
              </a:spcAft>
              <a:buClr>
                <a:srgbClr val="121212"/>
              </a:buClr>
              <a:buSzPts val="950"/>
              <a:buFont typeface="Calibri"/>
              <a:buChar char="•"/>
            </a:pPr>
            <a:r>
              <a:rPr lang="en-US" sz="950">
                <a:solidFill>
                  <a:srgbClr val="121212"/>
                </a:solidFill>
                <a:latin typeface="Calibri"/>
                <a:ea typeface="Calibri"/>
                <a:cs typeface="Calibri"/>
                <a:sym typeface="Calibri"/>
              </a:rPr>
              <a:t>Pushing hard into AI right now — LLM observability, an MCP server for coding agents, agentic debugging. Every one of those features leans on their data infrastructure.</a:t>
            </a:r>
            <a:endParaRPr sz="950">
              <a:solidFill>
                <a:srgbClr val="121212"/>
              </a:solidFill>
              <a:latin typeface="Calibri"/>
              <a:ea typeface="Calibri"/>
              <a:cs typeface="Calibri"/>
              <a:sym typeface="Calibri"/>
            </a:endParaRPr>
          </a:p>
        </p:txBody>
      </p:sp>
      <p:sp>
        <p:nvSpPr>
          <p:cNvPr id="88" name="Google Shape;88;p7"/>
          <p:cNvSpPr txBox="1"/>
          <p:nvPr/>
        </p:nvSpPr>
        <p:spPr>
          <a:xfrm>
            <a:off x="685800" y="3428993"/>
            <a:ext cx="4572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050"/>
              <a:buFont typeface="Calibri"/>
              <a:buNone/>
            </a:pPr>
            <a:r>
              <a:rPr b="1" i="0" lang="en-US" sz="1050" u="none" cap="none" strike="noStrike">
                <a:solidFill>
                  <a:srgbClr val="6B6B6B"/>
                </a:solidFill>
                <a:latin typeface="Calibri"/>
                <a:ea typeface="Calibri"/>
                <a:cs typeface="Calibri"/>
                <a:sym typeface="Calibri"/>
              </a:rPr>
              <a:t>YOU’RE MEETING C</a:t>
            </a:r>
            <a:r>
              <a:rPr b="1" lang="en-US" sz="1050">
                <a:solidFill>
                  <a:srgbClr val="6B6B6B"/>
                </a:solidFill>
                <a:latin typeface="Calibri"/>
                <a:ea typeface="Calibri"/>
                <a:cs typeface="Calibri"/>
                <a:sym typeface="Calibri"/>
              </a:rPr>
              <a:t>ONTACT</a:t>
            </a:r>
            <a:endParaRPr b="0" i="0" sz="1050" u="none" cap="none" strike="noStrike">
              <a:solidFill>
                <a:schemeClr val="dk1"/>
              </a:solidFill>
              <a:latin typeface="Calibri"/>
              <a:ea typeface="Calibri"/>
              <a:cs typeface="Calibri"/>
              <a:sym typeface="Calibri"/>
            </a:endParaRPr>
          </a:p>
        </p:txBody>
      </p:sp>
      <p:sp>
        <p:nvSpPr>
          <p:cNvPr id="89" name="Google Shape;89;p7"/>
          <p:cNvSpPr txBox="1"/>
          <p:nvPr/>
        </p:nvSpPr>
        <p:spPr>
          <a:xfrm>
            <a:off x="670650" y="3712450"/>
            <a:ext cx="4837500"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200"/>
              </a:spcBef>
              <a:spcAft>
                <a:spcPts val="0"/>
              </a:spcAft>
              <a:buClr>
                <a:srgbClr val="3A3A3A"/>
              </a:buClr>
              <a:buSzPts val="1200"/>
              <a:buFont typeface="Calibri"/>
              <a:buNone/>
            </a:pPr>
            <a:r>
              <a:rPr b="1" lang="en-US" sz="1300">
                <a:solidFill>
                  <a:srgbClr val="121212"/>
                </a:solidFill>
                <a:latin typeface="Calibri"/>
                <a:ea typeface="Calibri"/>
                <a:cs typeface="Calibri"/>
                <a:sym typeface="Calibri"/>
              </a:rPr>
              <a:t>Steph Hippo </a:t>
            </a:r>
            <a:r>
              <a:rPr lang="en-US" sz="1300">
                <a:solidFill>
                  <a:srgbClr val="121212"/>
                </a:solidFill>
                <a:latin typeface="Calibri"/>
                <a:ea typeface="Calibri"/>
                <a:cs typeface="Calibri"/>
                <a:sym typeface="Calibri"/>
              </a:rPr>
              <a:t>- </a:t>
            </a:r>
            <a:r>
              <a:rPr lang="en-US" sz="1300">
                <a:solidFill>
                  <a:srgbClr val="121212"/>
                </a:solidFill>
                <a:latin typeface="Calibri"/>
                <a:ea typeface="Calibri"/>
                <a:cs typeface="Calibri"/>
                <a:sym typeface="Calibri"/>
              </a:rPr>
              <a:t>linkedin.com/in/stephhippo</a:t>
            </a:r>
            <a:endParaRPr sz="1300">
              <a:solidFill>
                <a:srgbClr val="121212"/>
              </a:solidFill>
              <a:latin typeface="Calibri"/>
              <a:ea typeface="Calibri"/>
              <a:cs typeface="Calibri"/>
              <a:sym typeface="Calibri"/>
            </a:endParaRPr>
          </a:p>
        </p:txBody>
      </p:sp>
      <p:sp>
        <p:nvSpPr>
          <p:cNvPr id="90" name="Google Shape;90;p7"/>
          <p:cNvSpPr/>
          <p:nvPr/>
        </p:nvSpPr>
        <p:spPr>
          <a:xfrm>
            <a:off x="5852160" y="1051560"/>
            <a:ext cx="2834640" cy="3566160"/>
          </a:xfrm>
          <a:prstGeom prst="roundRect">
            <a:avLst>
              <a:gd fmla="val 2581" name="adj"/>
            </a:avLst>
          </a:prstGeom>
          <a:solidFill>
            <a:srgbClr val="121212"/>
          </a:solidFill>
          <a:ln cap="flat" cmpd="sng" w="9525">
            <a:solidFill>
              <a:srgbClr val="1212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txBox="1"/>
          <p:nvPr/>
        </p:nvSpPr>
        <p:spPr>
          <a:xfrm>
            <a:off x="6080760" y="1207008"/>
            <a:ext cx="23774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050"/>
              <a:buFont typeface="Calibri"/>
              <a:buNone/>
            </a:pPr>
            <a:r>
              <a:rPr b="1" i="0" lang="en-US" sz="1050" u="none" cap="none" strike="noStrike">
                <a:solidFill>
                  <a:srgbClr val="E8631A"/>
                </a:solidFill>
                <a:latin typeface="Calibri"/>
                <a:ea typeface="Calibri"/>
                <a:cs typeface="Calibri"/>
                <a:sym typeface="Calibri"/>
              </a:rPr>
              <a:t>LEAVE WITH</a:t>
            </a:r>
            <a:endParaRPr b="0" i="0" sz="1050" u="none" cap="none" strike="noStrike">
              <a:solidFill>
                <a:schemeClr val="dk1"/>
              </a:solidFill>
              <a:latin typeface="Calibri"/>
              <a:ea typeface="Calibri"/>
              <a:cs typeface="Calibri"/>
              <a:sym typeface="Calibri"/>
            </a:endParaRPr>
          </a:p>
        </p:txBody>
      </p:sp>
      <p:sp>
        <p:nvSpPr>
          <p:cNvPr id="92" name="Google Shape;92;p7"/>
          <p:cNvSpPr/>
          <p:nvPr/>
        </p:nvSpPr>
        <p:spPr>
          <a:xfrm>
            <a:off x="6080760" y="1572768"/>
            <a:ext cx="274320" cy="274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txBox="1"/>
          <p:nvPr/>
        </p:nvSpPr>
        <p:spPr>
          <a:xfrm>
            <a:off x="6080760" y="15727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100"/>
              <a:buFont typeface="Calibri"/>
              <a:buNone/>
            </a:pPr>
            <a:r>
              <a:rPr b="1" i="0" lang="en-US" sz="1100" u="none" cap="none" strike="noStrike">
                <a:solidFill>
                  <a:srgbClr val="121212"/>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94" name="Google Shape;94;p7"/>
          <p:cNvSpPr txBox="1"/>
          <p:nvPr/>
        </p:nvSpPr>
        <p:spPr>
          <a:xfrm>
            <a:off x="6446520" y="1554480"/>
            <a:ext cx="20116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a:t>
            </a:r>
            <a:r>
              <a:rPr lang="en-US" sz="1300">
                <a:solidFill>
                  <a:srgbClr val="FFFFFF"/>
                </a:solidFill>
                <a:latin typeface="Calibri"/>
                <a:ea typeface="Calibri"/>
                <a:cs typeface="Calibri"/>
                <a:sym typeface="Calibri"/>
              </a:rPr>
              <a:t>decision process</a:t>
            </a:r>
            <a:endParaRPr b="0" i="0" sz="1300" u="none" cap="none" strike="noStrike">
              <a:solidFill>
                <a:schemeClr val="dk1"/>
              </a:solidFill>
              <a:latin typeface="Calibri"/>
              <a:ea typeface="Calibri"/>
              <a:cs typeface="Calibri"/>
              <a:sym typeface="Calibri"/>
            </a:endParaRPr>
          </a:p>
        </p:txBody>
      </p:sp>
      <p:sp>
        <p:nvSpPr>
          <p:cNvPr id="95" name="Google Shape;95;p7"/>
          <p:cNvSpPr/>
          <p:nvPr/>
        </p:nvSpPr>
        <p:spPr>
          <a:xfrm>
            <a:off x="6080760" y="2121408"/>
            <a:ext cx="274320" cy="274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txBox="1"/>
          <p:nvPr/>
        </p:nvSpPr>
        <p:spPr>
          <a:xfrm>
            <a:off x="6080760" y="21214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100"/>
              <a:buFont typeface="Calibri"/>
              <a:buNone/>
            </a:pPr>
            <a:r>
              <a:rPr b="1" i="0" lang="en-US" sz="1100" u="none" cap="none" strike="noStrike">
                <a:solidFill>
                  <a:srgbClr val="121212"/>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97" name="Google Shape;97;p7"/>
          <p:cNvSpPr txBox="1"/>
          <p:nvPr/>
        </p:nvSpPr>
        <p:spPr>
          <a:xfrm>
            <a:off x="6446520" y="2103120"/>
            <a:ext cx="20116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problem worth solving</a:t>
            </a:r>
            <a:endParaRPr b="0" i="0" sz="1300" u="none" cap="none" strike="noStrike">
              <a:solidFill>
                <a:schemeClr val="dk1"/>
              </a:solidFill>
              <a:latin typeface="Calibri"/>
              <a:ea typeface="Calibri"/>
              <a:cs typeface="Calibri"/>
              <a:sym typeface="Calibri"/>
            </a:endParaRPr>
          </a:p>
        </p:txBody>
      </p:sp>
      <p:sp>
        <p:nvSpPr>
          <p:cNvPr id="98" name="Google Shape;98;p7"/>
          <p:cNvSpPr/>
          <p:nvPr/>
        </p:nvSpPr>
        <p:spPr>
          <a:xfrm>
            <a:off x="6080760" y="2670048"/>
            <a:ext cx="274320" cy="274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txBox="1"/>
          <p:nvPr/>
        </p:nvSpPr>
        <p:spPr>
          <a:xfrm>
            <a:off x="6080760" y="267004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100"/>
              <a:buFont typeface="Calibri"/>
              <a:buNone/>
            </a:pPr>
            <a:r>
              <a:rPr b="1" i="0" lang="en-US" sz="1100" u="none" cap="none" strike="noStrike">
                <a:solidFill>
                  <a:srgbClr val="121212"/>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00" name="Google Shape;100;p7"/>
          <p:cNvSpPr txBox="1"/>
          <p:nvPr/>
        </p:nvSpPr>
        <p:spPr>
          <a:xfrm>
            <a:off x="6446520" y="2651760"/>
            <a:ext cx="20116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reason to act now</a:t>
            </a:r>
            <a:endParaRPr b="0" i="0" sz="1300" u="none" cap="none" strike="noStrike">
              <a:solidFill>
                <a:schemeClr val="dk1"/>
              </a:solidFill>
              <a:latin typeface="Calibri"/>
              <a:ea typeface="Calibri"/>
              <a:cs typeface="Calibri"/>
              <a:sym typeface="Calibri"/>
            </a:endParaRPr>
          </a:p>
        </p:txBody>
      </p:sp>
      <p:sp>
        <p:nvSpPr>
          <p:cNvPr id="101" name="Google Shape;101;p7"/>
          <p:cNvSpPr/>
          <p:nvPr/>
        </p:nvSpPr>
        <p:spPr>
          <a:xfrm>
            <a:off x="6080760" y="3218688"/>
            <a:ext cx="274320" cy="274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txBox="1"/>
          <p:nvPr/>
        </p:nvSpPr>
        <p:spPr>
          <a:xfrm>
            <a:off x="6080760" y="32186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1212"/>
              </a:buClr>
              <a:buSzPts val="1100"/>
              <a:buFont typeface="Calibri"/>
              <a:buNone/>
            </a:pPr>
            <a:r>
              <a:rPr b="1" i="0" lang="en-US" sz="1100" u="none" cap="none" strike="noStrike">
                <a:solidFill>
                  <a:srgbClr val="121212"/>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03" name="Google Shape;103;p7"/>
          <p:cNvSpPr txBox="1"/>
          <p:nvPr/>
        </p:nvSpPr>
        <p:spPr>
          <a:xfrm>
            <a:off x="6446520" y="3200400"/>
            <a:ext cx="20116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next step with the right people on it</a:t>
            </a:r>
            <a:endParaRPr b="0" i="0" sz="1300" u="none" cap="none" strike="noStrike">
              <a:solidFill>
                <a:schemeClr val="dk1"/>
              </a:solidFill>
              <a:latin typeface="Calibri"/>
              <a:ea typeface="Calibri"/>
              <a:cs typeface="Calibri"/>
              <a:sym typeface="Calibri"/>
            </a:endParaRPr>
          </a:p>
        </p:txBody>
      </p:sp>
      <p:sp>
        <p:nvSpPr>
          <p:cNvPr id="104" name="Google Shape;104;p7"/>
          <p:cNvSpPr txBox="1"/>
          <p:nvPr/>
        </p:nvSpPr>
        <p:spPr>
          <a:xfrm>
            <a:off x="6080760" y="3840480"/>
            <a:ext cx="237744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CFCFCF"/>
              </a:buClr>
              <a:buSzPts val="1150"/>
              <a:buFont typeface="Calibri"/>
              <a:buNone/>
            </a:pPr>
            <a:r>
              <a:rPr b="0" i="0" lang="en-US" sz="1150" u="none" cap="none" strike="noStrike">
                <a:solidFill>
                  <a:srgbClr val="CFCFCF"/>
                </a:solidFill>
                <a:latin typeface="Calibri"/>
                <a:ea typeface="Calibri"/>
                <a:cs typeface="Calibri"/>
                <a:sym typeface="Calibri"/>
              </a:rPr>
              <a:t>That’s the bar an AE accepts. A meeting booked isn’t the goal — a real opportunity is.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09" name="Shape 109"/>
        <p:cNvGrpSpPr/>
        <p:nvPr/>
      </p:nvGrpSpPr>
      <p:grpSpPr>
        <a:xfrm>
          <a:off x="0" y="0"/>
          <a:ext cx="0" cy="0"/>
          <a:chOff x="0" y="0"/>
          <a:chExt cx="0" cy="0"/>
        </a:xfrm>
      </p:grpSpPr>
      <p:sp>
        <p:nvSpPr>
          <p:cNvPr id="110" name="Google Shape;110;p8"/>
          <p:cNvSpPr txBox="1"/>
          <p:nvPr/>
        </p:nvSpPr>
        <p:spPr>
          <a:xfrm>
            <a:off x="457200" y="109728"/>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100"/>
              <a:buFont typeface="Calibri"/>
              <a:buNone/>
            </a:pPr>
            <a:r>
              <a:rPr b="1" i="0" lang="en-US" sz="1100" u="none" cap="none" strike="noStrike">
                <a:solidFill>
                  <a:srgbClr val="E8631A"/>
                </a:solidFill>
                <a:latin typeface="Calibri"/>
                <a:ea typeface="Calibri"/>
                <a:cs typeface="Calibri"/>
                <a:sym typeface="Calibri"/>
              </a:rPr>
              <a:t>BEFORE AND AFTER</a:t>
            </a:r>
            <a:endParaRPr b="0" i="0" sz="1100" u="none" cap="none" strike="noStrike">
              <a:solidFill>
                <a:schemeClr val="dk1"/>
              </a:solidFill>
              <a:latin typeface="Calibri"/>
              <a:ea typeface="Calibri"/>
              <a:cs typeface="Calibri"/>
              <a:sym typeface="Calibri"/>
            </a:endParaRPr>
          </a:p>
        </p:txBody>
      </p:sp>
      <p:sp>
        <p:nvSpPr>
          <p:cNvPr id="111" name="Google Shape;111;p8"/>
          <p:cNvSpPr txBox="1"/>
          <p:nvPr/>
        </p:nvSpPr>
        <p:spPr>
          <a:xfrm>
            <a:off x="457200" y="34747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How to prepare, and what happens next</a:t>
            </a:r>
            <a:endParaRPr b="0" i="0" sz="3000" u="none" cap="none" strike="noStrike">
              <a:solidFill>
                <a:schemeClr val="dk1"/>
              </a:solidFill>
              <a:latin typeface="Calibri"/>
              <a:ea typeface="Calibri"/>
              <a:cs typeface="Calibri"/>
              <a:sym typeface="Calibri"/>
            </a:endParaRPr>
          </a:p>
        </p:txBody>
      </p:sp>
      <p:sp>
        <p:nvSpPr>
          <p:cNvPr id="112" name="Google Shape;112;p8"/>
          <p:cNvSpPr txBox="1"/>
          <p:nvPr/>
        </p:nvSpPr>
        <p:spPr>
          <a:xfrm>
            <a:off x="457200" y="1188720"/>
            <a:ext cx="4937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050"/>
              <a:buFont typeface="Calibri"/>
              <a:buNone/>
            </a:pPr>
            <a:r>
              <a:rPr b="1" i="0" lang="en-US" sz="1050" u="none" cap="none" strike="noStrike">
                <a:solidFill>
                  <a:srgbClr val="E8631A"/>
                </a:solidFill>
                <a:latin typeface="Calibri"/>
                <a:ea typeface="Calibri"/>
                <a:cs typeface="Calibri"/>
                <a:sym typeface="Calibri"/>
              </a:rPr>
              <a:t>BEFORE THE DAY</a:t>
            </a:r>
            <a:endParaRPr b="0" i="0" sz="1050" u="none" cap="none" strike="noStrike">
              <a:solidFill>
                <a:schemeClr val="dk1"/>
              </a:solidFill>
              <a:latin typeface="Calibri"/>
              <a:ea typeface="Calibri"/>
              <a:cs typeface="Calibri"/>
              <a:sym typeface="Calibri"/>
            </a:endParaRPr>
          </a:p>
        </p:txBody>
      </p:sp>
      <p:sp>
        <p:nvSpPr>
          <p:cNvPr id="113" name="Google Shape;113;p8"/>
          <p:cNvSpPr txBox="1"/>
          <p:nvPr/>
        </p:nvSpPr>
        <p:spPr>
          <a:xfrm>
            <a:off x="457200" y="1463040"/>
            <a:ext cx="4937760" cy="2651760"/>
          </a:xfrm>
          <a:prstGeom prst="rect">
            <a:avLst/>
          </a:prstGeom>
          <a:noFill/>
          <a:ln>
            <a:noFill/>
          </a:ln>
        </p:spPr>
        <p:txBody>
          <a:bodyPr anchorCtr="0" anchor="t" bIns="0" lIns="0" spcFirstLastPara="1" rIns="0" wrap="square" tIns="0">
            <a:noAutofit/>
          </a:bodyPr>
          <a:lstStyle/>
          <a:p>
            <a:pPr indent="-152400" lvl="0" marL="152400" marR="0" rtl="0" algn="l">
              <a:lnSpc>
                <a:spcPct val="105000"/>
              </a:lnSpc>
              <a:spcBef>
                <a:spcPts val="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Read planetscale.com/metal and planetscale.com/docs/metal. Be ready to explain it, not recite it.</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70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Work both accounts the way you would a real target. Build your opener for Rohan and your questions for Daniel.</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70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Bring what you built to prepare — a doc, a table, a prompt, whatever it is. We’ll ask how you used it.</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700"/>
              </a:spcBef>
              <a:spcAft>
                <a:spcPts val="0"/>
              </a:spcAft>
              <a:buClr>
                <a:srgbClr val="FFFFFF"/>
              </a:buClr>
              <a:buSzPts val="1250"/>
              <a:buFont typeface="Calibri"/>
              <a:buChar char="•"/>
            </a:pPr>
            <a:r>
              <a:rPr b="0" i="0" lang="en-US" sz="1250" u="none" cap="none" strike="noStrike">
                <a:solidFill>
                  <a:srgbClr val="FFFFFF"/>
                </a:solidFill>
                <a:latin typeface="Calibri"/>
                <a:ea typeface="Calibri"/>
                <a:cs typeface="Calibri"/>
                <a:sym typeface="Calibri"/>
              </a:rPr>
              <a:t>Get some sleep. The cold call is more fun when you’re rested.</a:t>
            </a:r>
            <a:endParaRPr b="0" i="0" sz="1300" u="none" cap="none" strike="noStrike">
              <a:solidFill>
                <a:schemeClr val="dk1"/>
              </a:solidFill>
              <a:latin typeface="Calibri"/>
              <a:ea typeface="Calibri"/>
              <a:cs typeface="Calibri"/>
              <a:sym typeface="Calibri"/>
            </a:endParaRPr>
          </a:p>
        </p:txBody>
      </p:sp>
      <p:sp>
        <p:nvSpPr>
          <p:cNvPr id="114" name="Google Shape;114;p8"/>
          <p:cNvSpPr/>
          <p:nvPr/>
        </p:nvSpPr>
        <p:spPr>
          <a:xfrm>
            <a:off x="5806440" y="1188720"/>
            <a:ext cx="2880360" cy="2926080"/>
          </a:xfrm>
          <a:prstGeom prst="roundRect">
            <a:avLst>
              <a:gd fmla="val 2540" name="adj"/>
            </a:avLst>
          </a:prstGeom>
          <a:solidFill>
            <a:srgbClr val="1E1E1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txBox="1"/>
          <p:nvPr/>
        </p:nvSpPr>
        <p:spPr>
          <a:xfrm>
            <a:off x="6035040" y="1371600"/>
            <a:ext cx="24231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050"/>
              <a:buFont typeface="Calibri"/>
              <a:buNone/>
            </a:pPr>
            <a:r>
              <a:rPr b="1" i="0" lang="en-US" sz="1050" u="none" cap="none" strike="noStrike">
                <a:solidFill>
                  <a:srgbClr val="E8631A"/>
                </a:solidFill>
                <a:latin typeface="Calibri"/>
                <a:ea typeface="Calibri"/>
                <a:cs typeface="Calibri"/>
                <a:sym typeface="Calibri"/>
              </a:rPr>
              <a:t>AFTER</a:t>
            </a:r>
            <a:endParaRPr b="0" i="0" sz="1050" u="none" cap="none" strike="noStrike">
              <a:solidFill>
                <a:schemeClr val="dk1"/>
              </a:solidFill>
              <a:latin typeface="Calibri"/>
              <a:ea typeface="Calibri"/>
              <a:cs typeface="Calibri"/>
              <a:sym typeface="Calibri"/>
            </a:endParaRPr>
          </a:p>
        </p:txBody>
      </p:sp>
      <p:sp>
        <p:nvSpPr>
          <p:cNvPr id="116" name="Google Shape;116;p8"/>
          <p:cNvSpPr txBox="1"/>
          <p:nvPr/>
        </p:nvSpPr>
        <p:spPr>
          <a:xfrm>
            <a:off x="6035040" y="1645920"/>
            <a:ext cx="2423160"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You’ll hear from us within 48 hours. Either way, you’ll get real feedback, not a form letter.</a:t>
            </a:r>
            <a:endParaRPr b="0" i="0" sz="1250" u="none" cap="none" strike="noStrike">
              <a:solidFill>
                <a:schemeClr val="dk1"/>
              </a:solidFill>
              <a:latin typeface="Calibri"/>
              <a:ea typeface="Calibri"/>
              <a:cs typeface="Calibri"/>
              <a:sym typeface="Calibri"/>
            </a:endParaRPr>
          </a:p>
        </p:txBody>
      </p:sp>
      <p:sp>
        <p:nvSpPr>
          <p:cNvPr id="117" name="Google Shape;117;p8"/>
          <p:cNvSpPr txBox="1"/>
          <p:nvPr/>
        </p:nvSpPr>
        <p:spPr>
          <a:xfrm>
            <a:off x="6035040" y="2743200"/>
            <a:ext cx="24231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631A"/>
              </a:buClr>
              <a:buSzPts val="1050"/>
              <a:buFont typeface="Calibri"/>
              <a:buNone/>
            </a:pPr>
            <a:r>
              <a:rPr b="1" i="0" lang="en-US" sz="1050" u="none" cap="none" strike="noStrike">
                <a:solidFill>
                  <a:srgbClr val="E8631A"/>
                </a:solidFill>
                <a:latin typeface="Calibri"/>
                <a:ea typeface="Calibri"/>
                <a:cs typeface="Calibri"/>
                <a:sym typeface="Calibri"/>
              </a:rPr>
              <a:t>ON THE DAY</a:t>
            </a:r>
            <a:endParaRPr b="0" i="0" sz="1050" u="none" cap="none" strike="noStrike">
              <a:solidFill>
                <a:schemeClr val="dk1"/>
              </a:solidFill>
              <a:latin typeface="Calibri"/>
              <a:ea typeface="Calibri"/>
              <a:cs typeface="Calibri"/>
              <a:sym typeface="Calibri"/>
            </a:endParaRPr>
          </a:p>
        </p:txBody>
      </p:sp>
      <p:sp>
        <p:nvSpPr>
          <p:cNvPr id="118" name="Google Shape;118;p8"/>
          <p:cNvSpPr txBox="1"/>
          <p:nvPr/>
        </p:nvSpPr>
        <p:spPr>
          <a:xfrm>
            <a:off x="6035040" y="3017520"/>
            <a:ext cx="2423160" cy="10058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In person at the SF office. Bring a laptop. Nothing to print.</a:t>
            </a:r>
            <a:endParaRPr b="0" i="0" sz="1250" u="none" cap="none" strike="noStrike">
              <a:solidFill>
                <a:schemeClr val="dk1"/>
              </a:solidFill>
              <a:latin typeface="Calibri"/>
              <a:ea typeface="Calibri"/>
              <a:cs typeface="Calibri"/>
              <a:sym typeface="Calibri"/>
            </a:endParaRPr>
          </a:p>
        </p:txBody>
      </p:sp>
      <p:sp>
        <p:nvSpPr>
          <p:cNvPr id="119" name="Google Shape;119;p8"/>
          <p:cNvSpPr txBox="1"/>
          <p:nvPr/>
        </p:nvSpPr>
        <p:spPr>
          <a:xfrm>
            <a:off x="457200" y="4796028"/>
            <a:ext cx="8229600" cy="228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9A9A9A"/>
              </a:buClr>
              <a:buSzPts val="950"/>
              <a:buFont typeface="Calibri"/>
              <a:buNone/>
            </a:pPr>
            <a:r>
              <a:rPr b="0" i="0" lang="en-US" sz="950" u="none" cap="none" strike="noStrike">
                <a:solidFill>
                  <a:srgbClr val="9A9A9A"/>
                </a:solidFill>
                <a:latin typeface="Calibri"/>
                <a:ea typeface="Calibri"/>
                <a:cs typeface="Calibri"/>
                <a:sym typeface="Calibri"/>
              </a:rPr>
              <a:t>Questions before then? will.cronin@planetscale.com</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